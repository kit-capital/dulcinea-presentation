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23"/>
  </p:notesMasterIdLst>
  <p:sldIdLst>
    <p:sldId id="912" r:id="rId2"/>
    <p:sldId id="839" r:id="rId3"/>
    <p:sldId id="913" r:id="rId4"/>
    <p:sldId id="841" r:id="rId5"/>
    <p:sldId id="842" r:id="rId6"/>
    <p:sldId id="843" r:id="rId7"/>
    <p:sldId id="824" r:id="rId8"/>
    <p:sldId id="825" r:id="rId9"/>
    <p:sldId id="844" r:id="rId10"/>
    <p:sldId id="845" r:id="rId11"/>
    <p:sldId id="828" r:id="rId12"/>
    <p:sldId id="846" r:id="rId13"/>
    <p:sldId id="830" r:id="rId14"/>
    <p:sldId id="868" r:id="rId15"/>
    <p:sldId id="874" r:id="rId16"/>
    <p:sldId id="858" r:id="rId17"/>
    <p:sldId id="887" r:id="rId18"/>
    <p:sldId id="886" r:id="rId19"/>
    <p:sldId id="851" r:id="rId20"/>
    <p:sldId id="837" r:id="rId21"/>
    <p:sldId id="784" r:id="rId22"/>
  </p:sldIdLst>
  <p:sldSz cx="18288000" cy="10287000"/>
  <p:notesSz cx="6858000" cy="9144000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Poppins Extra-Light" panose="020B0604020202020204" charset="0"/>
      <p:regular r:id="rId32"/>
    </p:embeddedFont>
    <p:embeddedFont>
      <p:font typeface="Poppins Light" panose="00000400000000000000" pitchFamily="2" charset="0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 autoAdjust="0"/>
    <p:restoredTop sz="94521" autoAdjust="0"/>
  </p:normalViewPr>
  <p:slideViewPr>
    <p:cSldViewPr>
      <p:cViewPr varScale="1">
        <p:scale>
          <a:sx n="98" d="100"/>
          <a:sy n="98" d="100"/>
        </p:scale>
        <p:origin x="96" y="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4"/>
              <c:pt idx="0">
                <c:v>Deal IRR</c:v>
              </c:pt>
              <c:pt idx="1">
                <c:v>Tax at 15%</c:v>
              </c:pt>
              <c:pt idx="2">
                <c:v>Fees &amp; carry</c:v>
              </c:pt>
              <c:pt idx="3">
                <c:v>Investor IRR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20.8</c:v>
              </c:pt>
              <c:pt idx="2">
                <c:v>15.7</c:v>
              </c:pt>
              <c:pt idx="3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236-45C2-A1A5-72B1CB74E902}"/>
            </c:ext>
          </c:extLst>
        </c:ser>
        <c:ser>
          <c:idx val="1"/>
          <c:order val="1"/>
          <c:tx>
            <c:v>Increase</c:v>
          </c:tx>
          <c:spPr>
            <a:solidFill>
              <a:srgbClr val="103D40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Deal IRR</c:v>
              </c:pt>
              <c:pt idx="1">
                <c:v>Tax at 15%</c:v>
              </c:pt>
              <c:pt idx="2">
                <c:v>Fees &amp; carry</c:v>
              </c:pt>
              <c:pt idx="3">
                <c:v>Investor IRR</c:v>
              </c:pt>
            </c:strLit>
          </c:cat>
          <c:val>
            <c:numLit>
              <c:formatCode>General</c:formatCode>
              <c:ptCount val="4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236-45C2-A1A5-72B1CB74E902}"/>
            </c:ext>
          </c:extLst>
        </c:ser>
        <c:ser>
          <c:idx val="2"/>
          <c:order val="2"/>
          <c:tx>
            <c:v>Decrease</c:v>
          </c:tx>
          <c:spPr>
            <a:solidFill>
              <a:srgbClr val="B9684F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Deal IRR</c:v>
              </c:pt>
              <c:pt idx="1">
                <c:v>Tax at 15%</c:v>
              </c:pt>
              <c:pt idx="2">
                <c:v>Fees &amp; carry</c:v>
              </c:pt>
              <c:pt idx="3">
                <c:v>Investor IRR</c:v>
              </c:pt>
            </c:strLit>
          </c:cat>
          <c:val>
            <c:numLit>
              <c:formatCode>General</c:formatCode>
              <c:ptCount val="4"/>
              <c:pt idx="1">
                <c:v>2.6</c:v>
              </c:pt>
              <c:pt idx="2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236-45C2-A1A5-72B1CB74E902}"/>
            </c:ext>
          </c:extLst>
        </c:ser>
        <c:ser>
          <c:idx val="3"/>
          <c:order val="3"/>
          <c:tx>
            <c:v>Total</c:v>
          </c:tx>
          <c:spPr>
            <a:solidFill>
              <a:srgbClr val="103D40"/>
            </a:solidFill>
            <a:ln>
              <a:noFill/>
            </a:ln>
          </c:spPr>
          <c:invertIfNegative val="1"/>
          <c:cat>
            <c:strLit>
              <c:ptCount val="4"/>
              <c:pt idx="0">
                <c:v>Deal IRR</c:v>
              </c:pt>
              <c:pt idx="1">
                <c:v>Tax at 15%</c:v>
              </c:pt>
              <c:pt idx="2">
                <c:v>Fees &amp; carry</c:v>
              </c:pt>
              <c:pt idx="3">
                <c:v>Investor IRR</c:v>
              </c:pt>
            </c:strLit>
          </c:cat>
          <c:val>
            <c:numLit>
              <c:formatCode>General</c:formatCode>
              <c:ptCount val="4"/>
              <c:pt idx="0">
                <c:v>23.4</c:v>
              </c:pt>
              <c:pt idx="3">
                <c:v>15.7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236-45C2-A1A5-72B1CB74E902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103D40"/>
                        </a:solidFill>
                        <a:latin typeface="Poppins Light"/>
                      </a:rPr>
                      <a:t>23.4%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236-45C2-A1A5-72B1CB74E9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B9684F"/>
                        </a:solidFill>
                        <a:latin typeface="Poppins Light"/>
                      </a:rPr>
                      <a:t>−2.6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236-45C2-A1A5-72B1CB74E9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B9684F"/>
                        </a:solidFill>
                        <a:latin typeface="Poppins Light"/>
                      </a:rPr>
                      <a:t>−5.1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236-45C2-A1A5-72B1CB74E90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103D40"/>
                        </a:solidFill>
                        <a:latin typeface="Poppins Light"/>
                      </a:rPr>
                      <a:t>15.7%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236-45C2-A1A5-72B1CB74E902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Deal IRR</c:v>
              </c:pt>
              <c:pt idx="1">
                <c:v>Tax at 15%</c:v>
              </c:pt>
              <c:pt idx="2">
                <c:v>Fees &amp; carry</c:v>
              </c:pt>
              <c:pt idx="3">
                <c:v>Investor IRR</c:v>
              </c:pt>
            </c:strLit>
          </c:cat>
          <c:val>
            <c:numLit>
              <c:formatCode>General</c:formatCode>
              <c:ptCount val="4"/>
              <c:pt idx="0">
                <c:v>0.45500000000000002</c:v>
              </c:pt>
              <c:pt idx="1">
                <c:v>0.45500000000000002</c:v>
              </c:pt>
              <c:pt idx="2">
                <c:v>0.45500000000000002</c:v>
              </c:pt>
              <c:pt idx="3">
                <c:v>0.45500000000000002</c:v>
              </c:pt>
            </c:numLit>
          </c:val>
          <c:extLst>
            <c:ext xmlns:c16="http://schemas.microsoft.com/office/drawing/2014/chart" uri="{C3380CC4-5D6E-409C-BE32-E72D297353CC}">
              <c16:uniqueId val="{00000008-0236-45C2-A1A5-72B1CB74E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73238"/>
                </a:solidFill>
                <a:latin typeface="Poppins Ligh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9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All-in cost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5"/>
              <c:pt idx="0">
                <c:v>San Lucas</c:v>
              </c:pt>
              <c:pt idx="1">
                <c:v>Aires</c:v>
              </c:pt>
              <c:pt idx="2">
                <c:v>Fontanar</c:v>
              </c:pt>
              <c:pt idx="3">
                <c:v>Monte Sereno</c:v>
              </c:pt>
              <c:pt idx="4">
                <c:v>Montana</c:v>
              </c:pt>
            </c:strLit>
          </c:cat>
          <c:val>
            <c:numLit>
              <c:formatCode>General</c:formatCode>
              <c:ptCount val="5"/>
              <c:pt idx="0">
                <c:v>0.75</c:v>
              </c:pt>
              <c:pt idx="1">
                <c:v>1.17</c:v>
              </c:pt>
              <c:pt idx="2">
                <c:v>1.29</c:v>
              </c:pt>
              <c:pt idx="3">
                <c:v>1.65</c:v>
              </c:pt>
              <c:pt idx="4">
                <c:v>1.71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255-4D38-AD17-7008B2741F71}"/>
            </c:ext>
          </c:extLst>
        </c:ser>
        <c:ser>
          <c:idx val="1"/>
          <c:order val="1"/>
          <c:tx>
            <c:v>Bought below comps</c:v>
          </c:tx>
          <c:spPr>
            <a:solidFill>
              <a:srgbClr val="B9684F"/>
            </a:solidFill>
            <a:ln>
              <a:noFill/>
            </a:ln>
          </c:spPr>
          <c:invertIfNegative val="1"/>
          <c:cat>
            <c:strLit>
              <c:ptCount val="5"/>
              <c:pt idx="0">
                <c:v>San Lucas</c:v>
              </c:pt>
              <c:pt idx="1">
                <c:v>Aires</c:v>
              </c:pt>
              <c:pt idx="2">
                <c:v>Fontanar</c:v>
              </c:pt>
              <c:pt idx="3">
                <c:v>Monte Sereno</c:v>
              </c:pt>
              <c:pt idx="4">
                <c:v>Montana</c:v>
              </c:pt>
            </c:strLit>
          </c:cat>
          <c:val>
            <c:numLit>
              <c:formatCode>General</c:formatCode>
              <c:ptCount val="5"/>
              <c:pt idx="0">
                <c:v>0.32</c:v>
              </c:pt>
              <c:pt idx="1">
                <c:v>0.5</c:v>
              </c:pt>
              <c:pt idx="2">
                <c:v>0.55000000000000004</c:v>
              </c:pt>
              <c:pt idx="3">
                <c:v>0.71</c:v>
              </c:pt>
              <c:pt idx="4">
                <c:v>0.73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255-4D38-AD17-7008B2741F71}"/>
            </c:ext>
          </c:extLst>
        </c:ser>
        <c:ser>
          <c:idx val="2"/>
          <c:order val="2"/>
          <c:tx>
            <c:v>Appreciation</c:v>
          </c:tx>
          <c:spPr>
            <a:solidFill>
              <a:srgbClr val="2D8C88"/>
            </a:solidFill>
            <a:ln>
              <a:noFill/>
            </a:ln>
          </c:spPr>
          <c:invertIfNegative val="1"/>
          <c:cat>
            <c:strLit>
              <c:ptCount val="5"/>
              <c:pt idx="0">
                <c:v>San Lucas</c:v>
              </c:pt>
              <c:pt idx="1">
                <c:v>Aires</c:v>
              </c:pt>
              <c:pt idx="2">
                <c:v>Fontanar</c:v>
              </c:pt>
              <c:pt idx="3">
                <c:v>Monte Sereno</c:v>
              </c:pt>
              <c:pt idx="4">
                <c:v>Montana</c:v>
              </c:pt>
            </c:strLit>
          </c:cat>
          <c:val>
            <c:numLit>
              <c:formatCode>General</c:formatCode>
              <c:ptCount val="5"/>
              <c:pt idx="0">
                <c:v>0.2</c:v>
              </c:pt>
              <c:pt idx="1">
                <c:v>0.35</c:v>
              </c:pt>
              <c:pt idx="2">
                <c:v>0.42</c:v>
              </c:pt>
              <c:pt idx="3">
                <c:v>0.47</c:v>
              </c:pt>
              <c:pt idx="4">
                <c:v>0.56000000000000005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255-4D38-AD17-7008B2741F71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&quot;$&quot;#,##0.00&quot;M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Poppins Light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San Lucas</c:v>
              </c:pt>
              <c:pt idx="1">
                <c:v>Aires</c:v>
              </c:pt>
              <c:pt idx="2">
                <c:v>Fontanar</c:v>
              </c:pt>
              <c:pt idx="3">
                <c:v>Monte Sereno</c:v>
              </c:pt>
              <c:pt idx="4">
                <c:v>Montana</c:v>
              </c:pt>
            </c:strLit>
          </c:cat>
          <c:val>
            <c:numLit>
              <c:formatCode>General</c:formatCode>
              <c:ptCount val="5"/>
              <c:pt idx="0">
                <c:v>1.27</c:v>
              </c:pt>
              <c:pt idx="1">
                <c:v>2.02</c:v>
              </c:pt>
              <c:pt idx="2">
                <c:v>2.2600000000000002</c:v>
              </c:pt>
              <c:pt idx="3">
                <c:v>2.83</c:v>
              </c:pt>
              <c:pt idx="4">
                <c:v>3</c:v>
              </c:pt>
            </c:numLit>
          </c:val>
          <c:extLst>
            <c:ext xmlns:c16="http://schemas.microsoft.com/office/drawing/2014/chart" uri="{C3380CC4-5D6E-409C-BE32-E72D297353CC}">
              <c16:uniqueId val="{00000003-E255-4D38-AD17-7008B2741F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73238"/>
                </a:solidFill>
                <a:latin typeface="Poppins Ligh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.75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5E66C-4418-D644-A1F9-67937B8091E0}" type="datetimeFigureOut">
              <a:rPr lang="en-CO" smtClean="0"/>
              <a:t>09/25/2026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3413F-CAFF-E94F-87DC-FA056A21743D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1098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3413F-CAFF-E94F-87DC-FA056A21743D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897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O"/>
              <a:t>asa de ocupación de casas. </a:t>
            </a:r>
            <a:endParaRPr lang="en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3413F-CAFF-E94F-87DC-FA056A21743D}" type="slidenum">
              <a:rPr lang="en-CO" smtClean="0"/>
              <a:t>19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5962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0"/>
            </a:lvl2pPr>
            <a:lvl3pPr marL="914400" indent="0">
              <a:buNone/>
              <a:defRPr sz="1800" b="0"/>
            </a:lvl3pPr>
            <a:lvl4pPr marL="1371600" indent="0">
              <a:buNone/>
              <a:defRPr sz="1600" b="0"/>
            </a:lvl4pPr>
            <a:lvl5pPr marL="1828800" indent="0">
              <a:buNone/>
              <a:defRPr sz="1600" b="0"/>
            </a:lvl5pPr>
            <a:lvl6pPr marL="2286000" indent="0">
              <a:buNone/>
              <a:defRPr sz="1600" b="0"/>
            </a:lvl6pPr>
            <a:lvl7pPr marL="2743200" indent="0">
              <a:buNone/>
              <a:defRPr sz="1600" b="0"/>
            </a:lvl7pPr>
            <a:lvl8pPr marL="3200400" indent="0">
              <a:buNone/>
              <a:defRPr sz="1600" b="0"/>
            </a:lvl8pPr>
            <a:lvl9pPr marL="3657600" indent="0">
              <a:buNone/>
              <a:defRPr sz="16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0"/>
            </a:lvl2pPr>
            <a:lvl3pPr marL="914400" indent="0">
              <a:buNone/>
              <a:defRPr sz="1800" b="0"/>
            </a:lvl3pPr>
            <a:lvl4pPr marL="1371600" indent="0">
              <a:buNone/>
              <a:defRPr sz="1600" b="0"/>
            </a:lvl4pPr>
            <a:lvl5pPr marL="1828800" indent="0">
              <a:buNone/>
              <a:defRPr sz="1600" b="0"/>
            </a:lvl5pPr>
            <a:lvl6pPr marL="2286000" indent="0">
              <a:buNone/>
              <a:defRPr sz="1600" b="0"/>
            </a:lvl6pPr>
            <a:lvl7pPr marL="2743200" indent="0">
              <a:buNone/>
              <a:defRPr sz="1600" b="0"/>
            </a:lvl7pPr>
            <a:lvl8pPr marL="3200400" indent="0">
              <a:buNone/>
              <a:defRPr sz="1600" b="0"/>
            </a:lvl8pPr>
            <a:lvl9pPr marL="3657600" indent="0">
              <a:buNone/>
              <a:defRPr sz="16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o not remove" hidden="1">
            <a:extLst>
              <a:ext uri="{FF2B5EF4-FFF2-40B4-BE49-F238E27FC236}">
                <a16:creationId xmlns:a16="http://schemas.microsoft.com/office/drawing/2014/main" id="{07B87A09-1B09-1660-0BF4-93BBD30ED7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00" name="Footer Confidential"/>
          <p:cNvSpPr txBox="1"/>
          <p:nvPr/>
        </p:nvSpPr>
        <p:spPr>
          <a:xfrm>
            <a:off x="647700" y="9753600"/>
            <a:ext cx="4318000" cy="2413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sz="1200" spc="12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DULCINEA ONE · CONFIDENTIAL</a:t>
            </a:r>
          </a:p>
        </p:txBody>
      </p:sp>
      <p:sp>
        <p:nvSpPr>
          <p:cNvPr id="901" name="Footer Page Number"/>
          <p:cNvSpPr txBox="1"/>
          <p:nvPr/>
        </p:nvSpPr>
        <p:spPr>
          <a:xfrm>
            <a:off x="13233400" y="9753600"/>
            <a:ext cx="4318000" cy="2413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r"/>
            <a:fld id="{4A2B3C1D-5E6F-7A8B-9C0D-1E2F3A4B5C6D}" type="slidenum">
              <a:rPr lang="en-US" sz="12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lang="en-US" sz="1200" dirty="0">
              <a:solidFill>
                <a:srgbClr val="273238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0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9.svg"/><Relationship Id="rId5" Type="http://schemas.openxmlformats.org/officeDocument/2006/relationships/image" Target="../media/image14.svg"/><Relationship Id="rId10" Type="http://schemas.openxmlformats.org/officeDocument/2006/relationships/image" Target="../media/image10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sv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svg"/><Relationship Id="rId7" Type="http://schemas.openxmlformats.org/officeDocument/2006/relationships/image" Target="../media/image31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chart" Target="../charts/chart2.xml"/><Relationship Id="rId10" Type="http://schemas.openxmlformats.org/officeDocument/2006/relationships/image" Target="../media/image34.svg"/><Relationship Id="rId4" Type="http://schemas.openxmlformats.org/officeDocument/2006/relationships/chart" Target="../charts/chart1.xml"/><Relationship Id="rId9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svg"/><Relationship Id="rId4" Type="http://schemas.openxmlformats.org/officeDocument/2006/relationships/image" Target="../media/image6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svg"/><Relationship Id="rId4" Type="http://schemas.openxmlformats.org/officeDocument/2006/relationships/image" Target="../media/image6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333334-51E6-2040-83DB-FFADDB2A9327}"/>
              </a:ext>
            </a:extLst>
          </p:cNvPr>
          <p:cNvSpPr/>
          <p:nvPr/>
        </p:nvSpPr>
        <p:spPr>
          <a:xfrm>
            <a:off x="1017198" y="4274279"/>
            <a:ext cx="16242102" cy="1097821"/>
          </a:xfrm>
          <a:prstGeom prst="rect">
            <a:avLst/>
          </a:prstGeom>
          <a:solidFill>
            <a:srgbClr val="103D4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1028700" y="0"/>
            <a:ext cx="16230600" cy="4361659"/>
            <a:chOff x="0" y="0"/>
            <a:chExt cx="21640800" cy="5815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40800" cy="5815584"/>
            </a:xfrm>
            <a:custGeom>
              <a:avLst/>
              <a:gdLst/>
              <a:ahLst/>
              <a:cxnLst/>
              <a:rect l="l" t="t" r="r" b="b"/>
              <a:pathLst>
                <a:path w="21640800" h="5815584">
                  <a:moveTo>
                    <a:pt x="0" y="0"/>
                  </a:moveTo>
                  <a:lnTo>
                    <a:pt x="0" y="5721350"/>
                  </a:lnTo>
                  <a:cubicBezTo>
                    <a:pt x="127" y="5773420"/>
                    <a:pt x="42418" y="5815584"/>
                    <a:pt x="94361" y="5815584"/>
                  </a:cubicBezTo>
                  <a:lnTo>
                    <a:pt x="21546438" y="5815584"/>
                  </a:lnTo>
                  <a:cubicBezTo>
                    <a:pt x="21598254" y="5815584"/>
                    <a:pt x="21640419" y="5773801"/>
                    <a:pt x="21640800" y="5722112"/>
                  </a:cubicBezTo>
                  <a:lnTo>
                    <a:pt x="21640800" y="0"/>
                  </a:lnTo>
                  <a:close/>
                </a:path>
              </a:pathLst>
            </a:custGeom>
            <a:blipFill>
              <a:blip r:embed="rId3"/>
              <a:stretch>
                <a:fillRect t="-62627" b="-57258"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10820400" y="5103975"/>
            <a:ext cx="19050" cy="4301480"/>
          </a:xfrm>
          <a:custGeom>
            <a:avLst/>
            <a:gdLst/>
            <a:ahLst/>
            <a:cxnLst/>
            <a:rect l="l" t="t" r="r" b="b"/>
            <a:pathLst>
              <a:path w="19050" h="4301480">
                <a:moveTo>
                  <a:pt x="0" y="0"/>
                </a:moveTo>
                <a:lnTo>
                  <a:pt x="19050" y="0"/>
                </a:lnTo>
                <a:lnTo>
                  <a:pt x="19050" y="4301480"/>
                </a:lnTo>
                <a:lnTo>
                  <a:pt x="0" y="430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10" name="TextBox 10"/>
          <p:cNvSpPr txBox="1"/>
          <p:nvPr/>
        </p:nvSpPr>
        <p:spPr>
          <a:xfrm>
            <a:off x="1028700" y="7378700"/>
            <a:ext cx="10802483" cy="15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7"/>
              </a:lnSpc>
            </a:pPr>
            <a:r>
              <a:rPr lang="en-US" sz="7200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Investor Deck</a:t>
            </a:r>
          </a:p>
          <a:p>
            <a:pPr algn="l">
              <a:lnSpc>
                <a:spcPts val="3994"/>
              </a:lnSpc>
              <a:spcBef>
                <a:spcPts val="600"/>
              </a:spcBef>
            </a:pPr>
            <a:r>
              <a:rPr lang="en-US" sz="3200" dirty="0">
                <a:solidFill>
                  <a:srgbClr val="273238"/>
                </a:solidFill>
                <a:latin typeface="Georgia"/>
                <a:ea typeface="Georgia"/>
                <a:cs typeface="Georgia"/>
                <a:sym typeface="Cormorant Garamond"/>
              </a:rPr>
              <a:t>First round, offered to qualified investors.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5694" y="8305800"/>
            <a:ext cx="142627" cy="75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>
                <a:solidFill>
                  <a:srgbClr val="273238"/>
                </a:solidFill>
                <a:latin typeface="Georgia"/>
                <a:ea typeface="Georgia"/>
                <a:cs typeface="Georgia"/>
                <a:sym typeface="Garamon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87150" y="5829299"/>
            <a:ext cx="5781627" cy="3817079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algn="l">
              <a:lnSpc>
                <a:spcPts val="2503"/>
              </a:lnSpc>
            </a:pPr>
            <a:r>
              <a:rPr lang="en-US" sz="2196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Dulcinea is the operating company. It sources, renovates and sells.</a:t>
            </a:r>
          </a:p>
          <a:p>
            <a:pPr algn="l">
              <a:lnSpc>
                <a:spcPts val="2503"/>
              </a:lnSpc>
              <a:spcBef>
                <a:spcPts val="900"/>
              </a:spcBef>
            </a:pPr>
            <a:r>
              <a:rPr lang="en-US" sz="2196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Dulcinea One: the first round. Qualified investors fund it; it buys, improves, rents and exits homes in Medellín.</a:t>
            </a:r>
          </a:p>
          <a:p>
            <a:pPr algn="l">
              <a:lnSpc>
                <a:spcPts val="2503"/>
              </a:lnSpc>
              <a:spcBef>
                <a:spcPts val="900"/>
              </a:spcBef>
            </a:pPr>
            <a:r>
              <a:rPr lang="en-US" sz="2196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 home carries the Lola &amp; Ber Hospitality co-brand.</a:t>
            </a:r>
          </a:p>
        </p:txBody>
      </p:sp>
      <p:pic>
        <p:nvPicPr>
          <p:cNvPr id="6" name="Lola &amp; Ber logo" descr="Lola &amp; Ber logo">
            <a:extLst>
              <a:ext uri="{FF2B5EF4-FFF2-40B4-BE49-F238E27FC236}">
                <a16:creationId xmlns:a16="http://schemas.microsoft.com/office/drawing/2014/main" id="{7F850611-C5B9-46E2-282D-E25D7E4D136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lum bright="-20000" contrast="50000"/>
            <a:duotone>
              <a:srgbClr val="FFFFFF"/>
              <a:srgbClr val="103D40"/>
            </a:duotone>
          </a:blip>
          <a:stretch>
            <a:fillRect/>
          </a:stretch>
        </p:blipFill>
        <p:spPr>
          <a:xfrm>
            <a:off x="15317209" y="4494852"/>
            <a:ext cx="649393" cy="649393"/>
          </a:xfrm>
          <a:prstGeom prst="rect">
            <a:avLst/>
          </a:prstGeom>
        </p:spPr>
      </p:pic>
      <p:pic>
        <p:nvPicPr>
          <p:cNvPr id="17" name="KIT Capital logo" descr="KIT Capital Partners logo">
            <a:extLst>
              <a:ext uri="{FF2B5EF4-FFF2-40B4-BE49-F238E27FC236}">
                <a16:creationId xmlns:a16="http://schemas.microsoft.com/office/drawing/2014/main" id="{1AD6A385-4D8C-A013-B5FD-5018AC718CBB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lum bright="-20000" contrast="50000"/>
            <a:duotone>
              <a:srgbClr val="FFFFFF"/>
              <a:srgbClr val="103D40"/>
            </a:duotone>
          </a:blip>
          <a:stretch>
            <a:fillRect/>
          </a:stretch>
        </p:blipFill>
        <p:spPr>
          <a:xfrm>
            <a:off x="16297729" y="4486153"/>
            <a:ext cx="724323" cy="749300"/>
          </a:xfrm>
          <a:prstGeom prst="rect">
            <a:avLst/>
          </a:prstGeom>
        </p:spPr>
      </p:pic>
      <p:pic>
        <p:nvPicPr>
          <p:cNvPr id="7" name="Dulcinea One logo">
            <a:extLst>
              <a:ext uri="{FF2B5EF4-FFF2-40B4-BE49-F238E27FC236}">
                <a16:creationId xmlns:a16="http://schemas.microsoft.com/office/drawing/2014/main" id="{3A27DE7E-8D3D-3F91-87DC-7F65F6727A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5537200"/>
            <a:ext cx="4318000" cy="1315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5CD90-EB9A-613F-4331-E9DD92B51B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0611" y="4535123"/>
            <a:ext cx="2149463" cy="56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4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1"/>
          <p:cNvSpPr/>
          <p:nvPr/>
        </p:nvSpPr>
        <p:spPr>
          <a:xfrm>
            <a:off x="17665700" y="0"/>
            <a:ext cx="622300" cy="10287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2"/>
          <p:cNvSpPr txBox="1"/>
          <p:nvPr/>
        </p:nvSpPr>
        <p:spPr>
          <a:xfrm>
            <a:off x="774700" y="152400"/>
            <a:ext cx="11430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Why Medellín</a:t>
            </a:r>
          </a:p>
        </p:txBody>
      </p:sp>
      <p:sp>
        <p:nvSpPr>
          <p:cNvPr id="102" name="TextBox 103"/>
          <p:cNvSpPr txBox="1"/>
          <p:nvPr/>
        </p:nvSpPr>
        <p:spPr>
          <a:xfrm>
            <a:off x="800100" y="1778000"/>
            <a:ext cx="15875000" cy="363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2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Visitors come for a week, stay for a season, then buy.</a:t>
            </a:r>
          </a:p>
        </p:txBody>
      </p:sp>
      <p:sp>
        <p:nvSpPr>
          <p:cNvPr id="105" name="TextBox 106"/>
          <p:cNvSpPr txBox="1"/>
          <p:nvPr/>
        </p:nvSpPr>
        <p:spPr>
          <a:xfrm>
            <a:off x="914400" y="69596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400" spc="100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ILLUSTRATIVE RENDER · EL POBLADO</a:t>
            </a:r>
          </a:p>
        </p:txBody>
      </p:sp>
      <p:sp>
        <p:nvSpPr>
          <p:cNvPr id="106" name="Shape 107"/>
          <p:cNvSpPr/>
          <p:nvPr/>
        </p:nvSpPr>
        <p:spPr>
          <a:xfrm>
            <a:off x="9652000" y="2540000"/>
            <a:ext cx="7747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 108"/>
          <p:cNvSpPr txBox="1"/>
          <p:nvPr/>
        </p:nvSpPr>
        <p:spPr>
          <a:xfrm>
            <a:off x="10490200" y="3048000"/>
            <a:ext cx="1397000" cy="5642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1.2M</a:t>
            </a:r>
          </a:p>
        </p:txBody>
      </p:sp>
      <p:sp>
        <p:nvSpPr>
          <p:cNvPr id="108" name="TextBox 109"/>
          <p:cNvSpPr txBox="1"/>
          <p:nvPr/>
        </p:nvSpPr>
        <p:spPr>
          <a:xfrm>
            <a:off x="11988800" y="3048000"/>
            <a:ext cx="513080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foreign visitors in 2024, up 26%; the US is #1</a:t>
            </a:r>
          </a:p>
        </p:txBody>
      </p:sp>
      <p:sp>
        <p:nvSpPr>
          <p:cNvPr id="109" name="Shape 110"/>
          <p:cNvSpPr/>
          <p:nvPr/>
        </p:nvSpPr>
        <p:spPr>
          <a:xfrm>
            <a:off x="9652000" y="4279900"/>
            <a:ext cx="7747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 111"/>
          <p:cNvSpPr txBox="1"/>
          <p:nvPr/>
        </p:nvSpPr>
        <p:spPr>
          <a:xfrm>
            <a:off x="10490200" y="4787900"/>
            <a:ext cx="1397000" cy="5642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62%</a:t>
            </a:r>
          </a:p>
        </p:txBody>
      </p:sp>
      <p:sp>
        <p:nvSpPr>
          <p:cNvPr id="111" name="TextBox 112"/>
          <p:cNvSpPr txBox="1"/>
          <p:nvPr/>
        </p:nvSpPr>
        <p:spPr>
          <a:xfrm>
            <a:off x="11988800" y="4787900"/>
            <a:ext cx="513080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of arrivals are international, vs 36% in 2014</a:t>
            </a:r>
          </a:p>
        </p:txBody>
      </p:sp>
      <p:sp>
        <p:nvSpPr>
          <p:cNvPr id="112" name="Shape 113"/>
          <p:cNvSpPr/>
          <p:nvPr/>
        </p:nvSpPr>
        <p:spPr>
          <a:xfrm>
            <a:off x="9652000" y="6019800"/>
            <a:ext cx="7747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 114"/>
          <p:cNvSpPr txBox="1"/>
          <p:nvPr/>
        </p:nvSpPr>
        <p:spPr>
          <a:xfrm>
            <a:off x="10490200" y="6527800"/>
            <a:ext cx="1397000" cy="5642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10x</a:t>
            </a:r>
          </a:p>
        </p:txBody>
      </p:sp>
      <p:sp>
        <p:nvSpPr>
          <p:cNvPr id="114" name="TextBox 115"/>
          <p:cNvSpPr txBox="1"/>
          <p:nvPr/>
        </p:nvSpPr>
        <p:spPr>
          <a:xfrm>
            <a:off x="11988800" y="6527800"/>
            <a:ext cx="513080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more tourist lodgings than 2014; 70% homes</a:t>
            </a:r>
          </a:p>
        </p:txBody>
      </p:sp>
      <p:sp>
        <p:nvSpPr>
          <p:cNvPr id="118" name="TextBox 119"/>
          <p:cNvSpPr txBox="1"/>
          <p:nvPr/>
        </p:nvSpPr>
        <p:spPr>
          <a:xfrm>
            <a:off x="914400" y="9372600"/>
            <a:ext cx="12700000" cy="2233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dirty="0">
                <a:solidFill>
                  <a:srgbClr val="7A7A7A"/>
                </a:solidFill>
                <a:latin typeface="Poppins Light"/>
                <a:ea typeface="Poppins Light"/>
                <a:cs typeface="Poppins Light"/>
                <a:sym typeface="Poppins Light"/>
              </a:rPr>
              <a:t>Sources: Sistema de Inteligencia Turística de Medellín (SIT), Alcaldía de Medellín 2024–25; Migración Colombia; Resolución 5477/2022.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0490200" y="2768600"/>
            <a:ext cx="1905000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300" spc="100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01 · VISIT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490200" y="4508500"/>
            <a:ext cx="1905000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300" spc="100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02 · STAY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0490200" y="6248400"/>
            <a:ext cx="1905000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300" spc="100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03 · OWN</a:t>
            </a:r>
          </a:p>
        </p:txBody>
      </p:sp>
      <p:cxnSp>
        <p:nvCxnSpPr>
          <p:cNvPr id="133" name="Connector 133"/>
          <p:cNvCxnSpPr/>
          <p:nvPr/>
        </p:nvCxnSpPr>
        <p:spPr>
          <a:xfrm>
            <a:off x="13525500" y="4000500"/>
            <a:ext cx="0" cy="279400"/>
          </a:xfrm>
          <a:prstGeom prst="line">
            <a:avLst/>
          </a:prstGeom>
          <a:ln w="12700">
            <a:solidFill>
              <a:srgbClr val="B9684F"/>
            </a:solidFill>
          </a:ln>
        </p:spPr>
      </p:cxnSp>
      <p:cxnSp>
        <p:nvCxnSpPr>
          <p:cNvPr id="134" name="Connector 134"/>
          <p:cNvCxnSpPr/>
          <p:nvPr/>
        </p:nvCxnSpPr>
        <p:spPr>
          <a:xfrm>
            <a:off x="13525500" y="5740400"/>
            <a:ext cx="0" cy="279400"/>
          </a:xfrm>
          <a:prstGeom prst="line">
            <a:avLst/>
          </a:prstGeom>
          <a:ln w="12700">
            <a:solidFill>
              <a:srgbClr val="B9684F"/>
            </a:solidFill>
          </a:ln>
        </p:spPr>
      </p:cxnSp>
      <p:sp>
        <p:nvSpPr>
          <p:cNvPr id="136" name="TextBox 136"/>
          <p:cNvSpPr txBox="1"/>
          <p:nvPr/>
        </p:nvSpPr>
        <p:spPr>
          <a:xfrm>
            <a:off x="914400" y="72644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2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22 °C all year, walkable streets, a 2-year remote-work visa.</a:t>
            </a:r>
          </a:p>
        </p:txBody>
      </p:sp>
      <p:sp>
        <p:nvSpPr>
          <p:cNvPr id="140" name="Strip 140"/>
          <p:cNvSpPr/>
          <p:nvPr/>
        </p:nvSpPr>
        <p:spPr>
          <a:xfrm>
            <a:off x="914400" y="7823200"/>
            <a:ext cx="7620000" cy="1270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trip 141"/>
          <p:cNvSpPr/>
          <p:nvPr/>
        </p:nvSpPr>
        <p:spPr>
          <a:xfrm>
            <a:off x="914400" y="7823200"/>
            <a:ext cx="76200" cy="12700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2"/>
          <p:cNvSpPr txBox="1"/>
          <p:nvPr/>
        </p:nvSpPr>
        <p:spPr>
          <a:xfrm>
            <a:off x="1270000" y="80010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00" spc="200" dirty="0">
                <a:solidFill>
                  <a:srgbClr val="B9684F"/>
                </a:solidFill>
                <a:latin typeface="Poppins"/>
                <a:cs typeface="Poppins"/>
              </a:rPr>
              <a:t>EL POBLADO · APARTMENTS &amp; PENTHOUSES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270000" y="8255000"/>
            <a:ext cx="6985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  <a:latin typeface="Georgia"/>
                <a:cs typeface="Georgia"/>
              </a:rPr>
              <a:t>Relocating professionals, returning families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270000" y="8737600"/>
            <a:ext cx="6985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300" dirty="0">
                <a:solidFill>
                  <a:srgbClr val="CFE8E3"/>
                </a:solidFill>
                <a:latin typeface="Poppins Light"/>
                <a:cs typeface="Poppins Light"/>
              </a:rPr>
              <a:t>Walkable, estrato 5–6</a:t>
            </a:r>
          </a:p>
        </p:txBody>
      </p:sp>
      <p:sp>
        <p:nvSpPr>
          <p:cNvPr id="145" name="Strip 145"/>
          <p:cNvSpPr/>
          <p:nvPr/>
        </p:nvSpPr>
        <p:spPr>
          <a:xfrm>
            <a:off x="9652000" y="7823200"/>
            <a:ext cx="7747000" cy="1270000"/>
          </a:xfrm>
          <a:prstGeom prst="rect">
            <a:avLst/>
          </a:prstGeom>
          <a:solidFill>
            <a:srgbClr val="CFE8E3"/>
          </a:solidFill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trip 146"/>
          <p:cNvSpPr/>
          <p:nvPr/>
        </p:nvSpPr>
        <p:spPr>
          <a:xfrm>
            <a:off x="9652000" y="7823200"/>
            <a:ext cx="76200" cy="12700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 147"/>
          <p:cNvSpPr txBox="1"/>
          <p:nvPr/>
        </p:nvSpPr>
        <p:spPr>
          <a:xfrm>
            <a:off x="10007600" y="8001000"/>
            <a:ext cx="71120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00" spc="200" dirty="0">
                <a:solidFill>
                  <a:srgbClr val="103D40"/>
                </a:solidFill>
                <a:latin typeface="Poppins"/>
                <a:cs typeface="Poppins"/>
              </a:rPr>
              <a:t>EL RETIRO · HOUSES ON PRIVATE LOTS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0007600" y="8255000"/>
            <a:ext cx="7112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800" dirty="0">
                <a:solidFill>
                  <a:srgbClr val="103D40"/>
                </a:solidFill>
                <a:latin typeface="Georgia"/>
                <a:cs typeface="Georgia"/>
              </a:rPr>
              <a:t>Space and privacy, short commute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007600" y="87376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300" dirty="0">
                <a:solidFill>
                  <a:srgbClr val="6B6B7B"/>
                </a:solidFill>
                <a:latin typeface="Poppins Light"/>
                <a:cs typeface="Poppins Light"/>
              </a:rPr>
              <a:t>40 minutes from El Poblado</a:t>
            </a:r>
          </a:p>
        </p:txBody>
      </p:sp>
      <p:pic>
        <p:nvPicPr>
          <p:cNvPr id="2" name="Render - Penthouse view" descr="Illustrative render: view over the Aburrá Valley from an El Poblado penthouse at dusk">
            <a:extLst>
              <a:ext uri="{FF2B5EF4-FFF2-40B4-BE49-F238E27FC236}">
                <a16:creationId xmlns:a16="http://schemas.microsoft.com/office/drawing/2014/main" id="{0C78A059-9212-7722-7BCF-C12B6125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2540000"/>
            <a:ext cx="7620000" cy="4292600"/>
          </a:xfrm>
          <a:prstGeom prst="rect">
            <a:avLst/>
          </a:prstGeom>
        </p:spPr>
      </p:pic>
      <p:pic>
        <p:nvPicPr>
          <p:cNvPr id="150" name="Graphic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6800" y="3086100"/>
            <a:ext cx="381000" cy="381000"/>
          </a:xfrm>
          <a:prstGeom prst="rect">
            <a:avLst/>
          </a:prstGeom>
        </p:spPr>
      </p:pic>
      <p:pic>
        <p:nvPicPr>
          <p:cNvPr id="151" name="Graphic 1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6800" y="4826000"/>
            <a:ext cx="381000" cy="381000"/>
          </a:xfrm>
          <a:prstGeom prst="rect">
            <a:avLst/>
          </a:prstGeom>
        </p:spPr>
      </p:pic>
      <p:pic>
        <p:nvPicPr>
          <p:cNvPr id="152" name="Graphic 1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6800" y="65659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3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1072046" y="8429812"/>
            <a:ext cx="76200" cy="6604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0" y="0"/>
                </a:moveTo>
                <a:lnTo>
                  <a:pt x="76200" y="0"/>
                </a:lnTo>
                <a:lnTo>
                  <a:pt x="76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5" name="Freeform 5"/>
          <p:cNvSpPr/>
          <p:nvPr/>
        </p:nvSpPr>
        <p:spPr>
          <a:xfrm>
            <a:off x="1006827" y="2593564"/>
            <a:ext cx="3260722" cy="5419728"/>
          </a:xfrm>
          <a:custGeom>
            <a:avLst/>
            <a:gdLst/>
            <a:ahLst/>
            <a:cxnLst/>
            <a:rect l="l" t="t" r="r" b="b"/>
            <a:pathLst>
              <a:path w="3260722" h="5419728">
                <a:moveTo>
                  <a:pt x="0" y="0"/>
                </a:moveTo>
                <a:lnTo>
                  <a:pt x="3260721" y="0"/>
                </a:lnTo>
                <a:lnTo>
                  <a:pt x="3260721" y="5419728"/>
                </a:lnTo>
                <a:lnTo>
                  <a:pt x="0" y="541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6" name="Freeform 6"/>
          <p:cNvSpPr/>
          <p:nvPr/>
        </p:nvSpPr>
        <p:spPr>
          <a:xfrm>
            <a:off x="4308830" y="2593564"/>
            <a:ext cx="3260722" cy="5419728"/>
          </a:xfrm>
          <a:custGeom>
            <a:avLst/>
            <a:gdLst/>
            <a:ahLst/>
            <a:cxnLst/>
            <a:rect l="l" t="t" r="r" b="b"/>
            <a:pathLst>
              <a:path w="3260722" h="5419728">
                <a:moveTo>
                  <a:pt x="0" y="0"/>
                </a:moveTo>
                <a:lnTo>
                  <a:pt x="3260721" y="0"/>
                </a:lnTo>
                <a:lnTo>
                  <a:pt x="3260721" y="5419728"/>
                </a:lnTo>
                <a:lnTo>
                  <a:pt x="0" y="541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Freeform 7"/>
          <p:cNvSpPr/>
          <p:nvPr/>
        </p:nvSpPr>
        <p:spPr>
          <a:xfrm>
            <a:off x="7610823" y="2593564"/>
            <a:ext cx="3260722" cy="5419728"/>
          </a:xfrm>
          <a:custGeom>
            <a:avLst/>
            <a:gdLst/>
            <a:ahLst/>
            <a:cxnLst/>
            <a:rect l="l" t="t" r="r" b="b"/>
            <a:pathLst>
              <a:path w="3260722" h="5419728">
                <a:moveTo>
                  <a:pt x="0" y="0"/>
                </a:moveTo>
                <a:lnTo>
                  <a:pt x="3260722" y="0"/>
                </a:lnTo>
                <a:lnTo>
                  <a:pt x="3260722" y="5419728"/>
                </a:lnTo>
                <a:lnTo>
                  <a:pt x="0" y="541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8" name="Freeform 8"/>
          <p:cNvSpPr/>
          <p:nvPr/>
        </p:nvSpPr>
        <p:spPr>
          <a:xfrm>
            <a:off x="10912827" y="2593564"/>
            <a:ext cx="3260722" cy="5419728"/>
          </a:xfrm>
          <a:custGeom>
            <a:avLst/>
            <a:gdLst/>
            <a:ahLst/>
            <a:cxnLst/>
            <a:rect l="l" t="t" r="r" b="b"/>
            <a:pathLst>
              <a:path w="3260722" h="5419728">
                <a:moveTo>
                  <a:pt x="0" y="0"/>
                </a:moveTo>
                <a:lnTo>
                  <a:pt x="3260721" y="0"/>
                </a:lnTo>
                <a:lnTo>
                  <a:pt x="3260721" y="5419728"/>
                </a:lnTo>
                <a:lnTo>
                  <a:pt x="0" y="541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9" name="Freeform 9"/>
          <p:cNvSpPr/>
          <p:nvPr/>
        </p:nvSpPr>
        <p:spPr>
          <a:xfrm>
            <a:off x="14219592" y="2598327"/>
            <a:ext cx="3251197" cy="5410203"/>
          </a:xfrm>
          <a:custGeom>
            <a:avLst/>
            <a:gdLst/>
            <a:ahLst/>
            <a:cxnLst/>
            <a:rect l="l" t="t" r="r" b="b"/>
            <a:pathLst>
              <a:path w="3251197" h="5410203">
                <a:moveTo>
                  <a:pt x="0" y="0"/>
                </a:moveTo>
                <a:lnTo>
                  <a:pt x="3251197" y="0"/>
                </a:lnTo>
                <a:lnTo>
                  <a:pt x="3251197" y="5410203"/>
                </a:lnTo>
                <a:lnTo>
                  <a:pt x="0" y="54102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11" name="TextBox 11"/>
          <p:cNvSpPr txBox="1"/>
          <p:nvPr/>
        </p:nvSpPr>
        <p:spPr>
          <a:xfrm>
            <a:off x="1006164" y="225923"/>
            <a:ext cx="16900836" cy="149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Gap in the Market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3700" y="2933700"/>
            <a:ext cx="23749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1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New-build developers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65700" y="2933700"/>
            <a:ext cx="23749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Resale agencies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7700" y="2933700"/>
            <a:ext cx="23749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Owner-sellers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69700" y="2933700"/>
            <a:ext cx="23749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Individual flippers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1443" y="8709212"/>
            <a:ext cx="15240000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00"/>
              </a:lnSpc>
            </a:pPr>
            <a:r>
              <a:rPr lang="en-US" sz="2000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seller clears more than 3 of 6. The gap is the whole product, not one feature.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9086" y="3478502"/>
            <a:ext cx="229343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1089" y="3478502"/>
            <a:ext cx="229343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33092" y="3478502"/>
            <a:ext cx="229343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35086" y="3478502"/>
            <a:ext cx="272129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37089" y="3478502"/>
            <a:ext cx="260147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5438" y="3798201"/>
            <a:ext cx="762000" cy="35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0">
                <a:solidFill>
                  <a:srgbClr val="8A8A8A"/>
                </a:solidFill>
                <a:latin typeface="Georgia"/>
                <a:ea typeface="Georgia"/>
                <a:cs typeface="Georgia"/>
                <a:sym typeface="Cormorant Garamond Bold"/>
              </a:rPr>
              <a:t> of 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07441" y="3798201"/>
            <a:ext cx="762000" cy="35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0">
                <a:solidFill>
                  <a:srgbClr val="8A8A8A"/>
                </a:solidFill>
                <a:latin typeface="Georgia"/>
                <a:ea typeface="Georgia"/>
                <a:cs typeface="Georgia"/>
                <a:sym typeface="Cormorant Garamond Bold"/>
              </a:rPr>
              <a:t> of 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09443" y="3798201"/>
            <a:ext cx="762000" cy="35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0">
                <a:solidFill>
                  <a:srgbClr val="8A8A8A"/>
                </a:solidFill>
                <a:latin typeface="Georgia"/>
                <a:ea typeface="Georgia"/>
                <a:cs typeface="Georgia"/>
                <a:sym typeface="Cormorant Garamond Bold"/>
              </a:rPr>
              <a:t> of 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52586" y="3798201"/>
            <a:ext cx="762000" cy="35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0">
                <a:solidFill>
                  <a:srgbClr val="8A8A8A"/>
                </a:solidFill>
                <a:latin typeface="Georgia"/>
                <a:ea typeface="Georgia"/>
                <a:cs typeface="Georgia"/>
                <a:sym typeface="Cormorant Garamond Bold"/>
              </a:rPr>
              <a:t> of 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42397" y="3798201"/>
            <a:ext cx="762000" cy="35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0">
                <a:solidFill>
                  <a:srgbClr val="A8503A"/>
                </a:solidFill>
                <a:latin typeface="Georgia"/>
                <a:ea typeface="Georgia"/>
                <a:cs typeface="Georgia"/>
                <a:sym typeface="Cormorant Garamond Bold"/>
              </a:rPr>
              <a:t> of 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29086" y="4335106"/>
            <a:ext cx="1778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spc="154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tests cleared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31089" y="4335106"/>
            <a:ext cx="1778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spc="154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tests cleared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33092" y="4335106"/>
            <a:ext cx="1778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spc="154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tests cleared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35086" y="4335106"/>
            <a:ext cx="1778000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spc="154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tests cleared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537089" y="4335106"/>
            <a:ext cx="173961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spc="150">
                <a:solidFill>
                  <a:srgbClr val="A8503A"/>
                </a:solidFill>
                <a:latin typeface="Poppins"/>
                <a:ea typeface="Poppins"/>
                <a:cs typeface="Poppins"/>
                <a:sym typeface="Poppins"/>
              </a:rPr>
              <a:t>tests cleared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5188" y="4937247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385188" y="6867647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4687191" y="5419851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4687191" y="5902453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7989194" y="5419851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989194" y="5902453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11291188" y="5902453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1659289" y="4733393"/>
            <a:ext cx="2055800" cy="285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Established location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Finished, not off-plan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design standard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management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Available now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Branded option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61292" y="4734917"/>
            <a:ext cx="2040084" cy="285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Established location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Finished, not off-plan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design standard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management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Available now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Branded option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63286" y="4734917"/>
            <a:ext cx="2040084" cy="285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Established location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Finished, not off-plan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design standard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management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Available now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Branded option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65289" y="4733393"/>
            <a:ext cx="2040084" cy="285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Established location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Finished, not off-plan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design standard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management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Available now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Branded option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871700" y="2933700"/>
            <a:ext cx="23749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04">
                <a:solidFill>
                  <a:srgbClr val="A8503A"/>
                </a:solidFill>
                <a:latin typeface="Poppins"/>
                <a:ea typeface="Poppins"/>
                <a:cs typeface="Poppins"/>
                <a:sym typeface="Poppins"/>
              </a:rPr>
              <a:t>DULCINEA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867292" y="4734917"/>
            <a:ext cx="2055800" cy="285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Established location</a:t>
            </a:r>
          </a:p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Finished, not off-plan</a:t>
            </a:r>
          </a:p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One design standard</a:t>
            </a:r>
          </a:p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Rental management</a:t>
            </a:r>
          </a:p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Available now</a:t>
            </a:r>
          </a:p>
          <a:p>
            <a:pPr algn="l">
              <a:lnSpc>
                <a:spcPts val="3750"/>
              </a:lnSpc>
            </a:pPr>
            <a:r>
              <a:rPr lang="en-US" sz="1500" spc="3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Branded option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51443" y="8429812"/>
            <a:ext cx="1505064" cy="21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spc="202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BOTTOM LINE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54103" y="1861671"/>
            <a:ext cx="14134567" cy="34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Buyers want six things from a finished home. Who delivers all six—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85188" y="54177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1385188" y="63829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4687191" y="63829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11291188" y="63829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1385188" y="73481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81" name="TextBox 81"/>
          <p:cNvSpPr txBox="1"/>
          <p:nvPr/>
        </p:nvSpPr>
        <p:spPr>
          <a:xfrm>
            <a:off x="4687191" y="73481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11291188" y="73481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sp>
        <p:nvSpPr>
          <p:cNvPr id="83" name="TextBox 83"/>
          <p:cNvSpPr txBox="1"/>
          <p:nvPr/>
        </p:nvSpPr>
        <p:spPr>
          <a:xfrm>
            <a:off x="7989191" y="7348130"/>
            <a:ext cx="9195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endParaRPr/>
          </a:p>
        </p:txBody>
      </p:sp>
      <p:pic>
        <p:nvPicPr>
          <p:cNvPr id="84" name="Graphic 84" descr="Crane icon for new-build develop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3500" y="2959100"/>
            <a:ext cx="254000" cy="254000"/>
          </a:xfrm>
          <a:prstGeom prst="rect">
            <a:avLst/>
          </a:prstGeom>
        </p:spPr>
      </p:pic>
      <p:pic>
        <p:nvPicPr>
          <p:cNvPr id="85" name="Graphic 85" descr="Handshake icon for resale agenc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5500" y="2959100"/>
            <a:ext cx="254000" cy="254000"/>
          </a:xfrm>
          <a:prstGeom prst="rect">
            <a:avLst/>
          </a:prstGeom>
        </p:spPr>
      </p:pic>
      <p:pic>
        <p:nvPicPr>
          <p:cNvPr id="86" name="Graphic 86" descr="Key icon for owner-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500" y="2959100"/>
            <a:ext cx="254000" cy="254000"/>
          </a:xfrm>
          <a:prstGeom prst="rect">
            <a:avLst/>
          </a:prstGeom>
        </p:spPr>
      </p:pic>
      <p:pic>
        <p:nvPicPr>
          <p:cNvPr id="87" name="Graphic 87" descr="Hammer icon for individual flipp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39500" y="2959100"/>
            <a:ext cx="254000" cy="254000"/>
          </a:xfrm>
          <a:prstGeom prst="rect">
            <a:avLst/>
          </a:prstGeom>
        </p:spPr>
      </p:pic>
      <p:pic>
        <p:nvPicPr>
          <p:cNvPr id="89" name="Graphic 89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9850" y="4946650"/>
            <a:ext cx="177800" cy="177800"/>
          </a:xfrm>
          <a:prstGeom prst="rect">
            <a:avLst/>
          </a:prstGeom>
        </p:spPr>
      </p:pic>
      <p:pic>
        <p:nvPicPr>
          <p:cNvPr id="90" name="Graphic 90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9850" y="6877050"/>
            <a:ext cx="177800" cy="177800"/>
          </a:xfrm>
          <a:prstGeom prst="rect">
            <a:avLst/>
          </a:prstGeom>
        </p:spPr>
      </p:pic>
      <p:pic>
        <p:nvPicPr>
          <p:cNvPr id="91" name="Graphic 91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1850" y="5429250"/>
            <a:ext cx="177800" cy="177800"/>
          </a:xfrm>
          <a:prstGeom prst="rect">
            <a:avLst/>
          </a:prstGeom>
        </p:spPr>
      </p:pic>
      <p:pic>
        <p:nvPicPr>
          <p:cNvPr id="92" name="Graphic 92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1850" y="5911850"/>
            <a:ext cx="177800" cy="177800"/>
          </a:xfrm>
          <a:prstGeom prst="rect">
            <a:avLst/>
          </a:prstGeom>
        </p:spPr>
      </p:pic>
      <p:pic>
        <p:nvPicPr>
          <p:cNvPr id="93" name="Graphic 93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43850" y="5429250"/>
            <a:ext cx="177800" cy="177800"/>
          </a:xfrm>
          <a:prstGeom prst="rect">
            <a:avLst/>
          </a:prstGeom>
        </p:spPr>
      </p:pic>
      <p:pic>
        <p:nvPicPr>
          <p:cNvPr id="94" name="Graphic 94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43850" y="5911850"/>
            <a:ext cx="177800" cy="177800"/>
          </a:xfrm>
          <a:prstGeom prst="rect">
            <a:avLst/>
          </a:prstGeom>
        </p:spPr>
      </p:pic>
      <p:pic>
        <p:nvPicPr>
          <p:cNvPr id="95" name="Graphic 95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45850" y="5911850"/>
            <a:ext cx="177800" cy="177800"/>
          </a:xfrm>
          <a:prstGeom prst="rect">
            <a:avLst/>
          </a:prstGeom>
        </p:spPr>
      </p:pic>
      <p:pic>
        <p:nvPicPr>
          <p:cNvPr id="96" name="Graphic 96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9850" y="5429250"/>
            <a:ext cx="177800" cy="177800"/>
          </a:xfrm>
          <a:prstGeom prst="rect">
            <a:avLst/>
          </a:prstGeom>
        </p:spPr>
      </p:pic>
      <p:pic>
        <p:nvPicPr>
          <p:cNvPr id="97" name="Graphic 97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9850" y="6394450"/>
            <a:ext cx="177800" cy="177800"/>
          </a:xfrm>
          <a:prstGeom prst="rect">
            <a:avLst/>
          </a:prstGeom>
        </p:spPr>
      </p:pic>
      <p:pic>
        <p:nvPicPr>
          <p:cNvPr id="98" name="Graphic 98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1850" y="6394450"/>
            <a:ext cx="177800" cy="177800"/>
          </a:xfrm>
          <a:prstGeom prst="rect">
            <a:avLst/>
          </a:prstGeom>
        </p:spPr>
      </p:pic>
      <p:pic>
        <p:nvPicPr>
          <p:cNvPr id="99" name="Graphic 99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45850" y="6394450"/>
            <a:ext cx="177800" cy="177800"/>
          </a:xfrm>
          <a:prstGeom prst="rect">
            <a:avLst/>
          </a:prstGeom>
        </p:spPr>
      </p:pic>
      <p:pic>
        <p:nvPicPr>
          <p:cNvPr id="100" name="Graphic 100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9850" y="7359650"/>
            <a:ext cx="177800" cy="177800"/>
          </a:xfrm>
          <a:prstGeom prst="rect">
            <a:avLst/>
          </a:prstGeom>
        </p:spPr>
      </p:pic>
      <p:pic>
        <p:nvPicPr>
          <p:cNvPr id="101" name="Graphic 101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1850" y="7359650"/>
            <a:ext cx="177800" cy="177800"/>
          </a:xfrm>
          <a:prstGeom prst="rect">
            <a:avLst/>
          </a:prstGeom>
        </p:spPr>
      </p:pic>
      <p:pic>
        <p:nvPicPr>
          <p:cNvPr id="102" name="Graphic 102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45850" y="7359650"/>
            <a:ext cx="177800" cy="177800"/>
          </a:xfrm>
          <a:prstGeom prst="rect">
            <a:avLst/>
          </a:prstGeom>
        </p:spPr>
      </p:pic>
      <p:pic>
        <p:nvPicPr>
          <p:cNvPr id="103" name="Graphic 103" descr="not m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43850" y="7359650"/>
            <a:ext cx="177800" cy="17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963BD-F0F1-E95A-0549-5BEBD6652C0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rgbClr val="103D40"/>
              <a:srgbClr val="103D40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541500" y="29591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pied 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1" b="16631"/>
          <a:stretch/>
        </p:blipFill>
        <p:spPr>
          <a:xfrm>
            <a:off x="914400" y="2540000"/>
            <a:ext cx="7620000" cy="2857500"/>
          </a:xfrm>
          <a:prstGeom prst="rect">
            <a:avLst/>
          </a:prstGeom>
        </p:spPr>
      </p:pic>
      <p:pic>
        <p:nvPicPr>
          <p:cNvPr id="11" name="Copied 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1" b="18411"/>
          <a:stretch/>
        </p:blipFill>
        <p:spPr>
          <a:xfrm>
            <a:off x="914400" y="5549900"/>
            <a:ext cx="7620000" cy="2705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BEC425-D431-4D64-BFB5-7B1FE23A3D7F}"/>
              </a:ext>
            </a:extLst>
          </p:cNvPr>
          <p:cNvSpPr txBox="1"/>
          <p:nvPr/>
        </p:nvSpPr>
        <p:spPr>
          <a:xfrm>
            <a:off x="774700" y="152400"/>
            <a:ext cx="15240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cs typeface="Poppins Extra-Light"/>
              </a:rPr>
              <a:t>Lola &amp; Ber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93A9B-F111-4A8D-860D-6E935253E00E}"/>
              </a:ext>
            </a:extLst>
          </p:cNvPr>
          <p:cNvSpPr txBox="1"/>
          <p:nvPr/>
        </p:nvSpPr>
        <p:spPr>
          <a:xfrm>
            <a:off x="800100" y="1778000"/>
            <a:ext cx="1524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700" dirty="0">
                <a:solidFill>
                  <a:srgbClr val="B9684F"/>
                </a:solidFill>
                <a:latin typeface="Georgia"/>
              </a:rPr>
              <a:t>Why put a hospitality brand on a house—</a:t>
            </a:r>
          </a:p>
        </p:txBody>
      </p:sp>
      <p:pic>
        <p:nvPicPr>
          <p:cNvPr id="2" name="Lola &amp; Ber logo" descr="Lola &amp; Ber logo">
            <a:extLst>
              <a:ext uri="{FF2B5EF4-FFF2-40B4-BE49-F238E27FC236}">
                <a16:creationId xmlns:a16="http://schemas.microsoft.com/office/drawing/2014/main" id="{10448E6C-4545-393D-CA0F-38B95F3C6BF3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lum bright="-20000" contrast="50000"/>
            <a:duotone>
              <a:srgbClr val="1E7A36"/>
              <a:srgbClr val="F4F4F9"/>
            </a:duotone>
          </a:blip>
          <a:stretch>
            <a:fillRect/>
          </a:stretch>
        </p:blipFill>
        <p:spPr>
          <a:xfrm>
            <a:off x="16497300" y="800100"/>
            <a:ext cx="876300" cy="876300"/>
          </a:xfrm>
          <a:prstGeom prst="rect">
            <a:avLst/>
          </a:prstGeom>
        </p:spPr>
      </p:pic>
      <p:sp>
        <p:nvSpPr>
          <p:cNvPr id="300" name="TextBox 300"/>
          <p:cNvSpPr txBox="1"/>
          <p:nvPr/>
        </p:nvSpPr>
        <p:spPr>
          <a:xfrm>
            <a:off x="914400" y="83820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spc="150" dirty="0">
                <a:solidFill>
                  <a:srgbClr val="103D40"/>
                </a:solidFill>
                <a:latin typeface="Poppins"/>
                <a:cs typeface="Poppins"/>
              </a:rPr>
              <a:t>BY LOLA &amp; BER · THE ENDORSED COLLECTION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914400" y="8686800"/>
            <a:ext cx="762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103D40"/>
                </a:solidFill>
                <a:latin typeface="Georgia"/>
                <a:cs typeface="Georgia"/>
              </a:rPr>
              <a:t>Each home keeps its own name. The brand sets the tone.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10312400" y="2540000"/>
            <a:ext cx="673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spc="150" dirty="0">
                <a:solidFill>
                  <a:srgbClr val="103D40"/>
                </a:solidFill>
                <a:latin typeface="Poppins"/>
                <a:cs typeface="Poppins"/>
              </a:rPr>
              <a:t>PROMISE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10312400" y="2794000"/>
            <a:ext cx="6731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200" dirty="0">
                <a:solidFill>
                  <a:srgbClr val="103D40"/>
                </a:solidFill>
                <a:latin typeface="Georgia"/>
                <a:cs typeface="Georgia"/>
              </a:rPr>
              <a:t>Freedom to be wholly yourself.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10312400" y="3276600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273238"/>
                </a:solidFill>
                <a:latin typeface="Poppins Light"/>
                <a:cs typeface="Poppins Light"/>
              </a:rPr>
              <a:t>Grew out of retreats and events.</a:t>
            </a:r>
          </a:p>
        </p:txBody>
      </p:sp>
      <p:sp>
        <p:nvSpPr>
          <p:cNvPr id="307" name="TextBox 307"/>
          <p:cNvSpPr txBox="1"/>
          <p:nvPr/>
        </p:nvSpPr>
        <p:spPr>
          <a:xfrm>
            <a:off x="10312400" y="4318000"/>
            <a:ext cx="673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spc="150" dirty="0">
                <a:solidFill>
                  <a:srgbClr val="103D40"/>
                </a:solidFill>
                <a:latin typeface="Poppins"/>
                <a:cs typeface="Poppins"/>
              </a:rPr>
              <a:t>DEMAND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10312400" y="4572000"/>
            <a:ext cx="6731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200" dirty="0">
                <a:solidFill>
                  <a:srgbClr val="103D40"/>
                </a:solidFill>
                <a:latin typeface="Georgia"/>
                <a:cs typeface="Georgia"/>
              </a:rPr>
              <a:t>Sex-positive, open-minded adults.</a:t>
            </a:r>
          </a:p>
        </p:txBody>
      </p:sp>
      <p:sp>
        <p:nvSpPr>
          <p:cNvPr id="309" name="TextBox 309"/>
          <p:cNvSpPr txBox="1"/>
          <p:nvPr/>
        </p:nvSpPr>
        <p:spPr>
          <a:xfrm>
            <a:off x="10312400" y="5054600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273238"/>
                </a:solidFill>
                <a:latin typeface="Poppins Light"/>
                <a:cs typeface="Poppins Light"/>
              </a:rPr>
              <a:t>They book the brand, not the price.</a:t>
            </a:r>
          </a:p>
        </p:txBody>
      </p:sp>
      <p:sp>
        <p:nvSpPr>
          <p:cNvPr id="311" name="TextBox 311"/>
          <p:cNvSpPr txBox="1"/>
          <p:nvPr/>
        </p:nvSpPr>
        <p:spPr>
          <a:xfrm>
            <a:off x="10312400" y="6096000"/>
            <a:ext cx="673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spc="150" dirty="0">
                <a:solidFill>
                  <a:srgbClr val="103D40"/>
                </a:solidFill>
                <a:latin typeface="Poppins"/>
                <a:cs typeface="Poppins"/>
              </a:rPr>
              <a:t>DESIGN BRIEF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10312400" y="6350000"/>
            <a:ext cx="6731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200" dirty="0">
                <a:solidFill>
                  <a:srgbClr val="103D40"/>
                </a:solidFill>
                <a:latin typeface="Georgia"/>
                <a:cs typeface="Georgia"/>
              </a:rPr>
              <a:t>Natural, warm, private.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10312400" y="6832600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273238"/>
                </a:solidFill>
                <a:latin typeface="Poppins Light"/>
                <a:cs typeface="Poppins Light"/>
              </a:rPr>
              <a:t>Plants, stone, warm light. One standard for every remodel.</a:t>
            </a:r>
          </a:p>
        </p:txBody>
      </p:sp>
      <p:sp>
        <p:nvSpPr>
          <p:cNvPr id="316" name="Shape 316"/>
          <p:cNvSpPr/>
          <p:nvPr/>
        </p:nvSpPr>
        <p:spPr>
          <a:xfrm>
            <a:off x="9652000" y="7823200"/>
            <a:ext cx="7747000" cy="1270000"/>
          </a:xfrm>
          <a:prstGeom prst="rect">
            <a:avLst/>
          </a:prstGeom>
          <a:solidFill>
            <a:srgbClr val="2D8C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Shape 317"/>
          <p:cNvSpPr/>
          <p:nvPr/>
        </p:nvSpPr>
        <p:spPr>
          <a:xfrm>
            <a:off x="9652000" y="7823200"/>
            <a:ext cx="76200" cy="12700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8" name="TextBox 318"/>
          <p:cNvSpPr txBox="1"/>
          <p:nvPr/>
        </p:nvSpPr>
        <p:spPr>
          <a:xfrm>
            <a:off x="10007600" y="8001000"/>
            <a:ext cx="711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spc="150" dirty="0">
                <a:solidFill>
                  <a:srgbClr val="B9684F"/>
                </a:solidFill>
                <a:latin typeface="Poppins"/>
                <a:cs typeface="Poppins"/>
              </a:rPr>
              <a:t>BOTTOM LINE</a:t>
            </a:r>
          </a:p>
        </p:txBody>
      </p:sp>
      <p:sp>
        <p:nvSpPr>
          <p:cNvPr id="319" name="TextBox 319"/>
          <p:cNvSpPr txBox="1"/>
          <p:nvPr/>
        </p:nvSpPr>
        <p:spPr>
          <a:xfrm>
            <a:off x="10007600" y="8255000"/>
            <a:ext cx="7112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  <a:latin typeface="Georgia"/>
                <a:cs typeface="Georgia"/>
              </a:rPr>
              <a:t>Built-in demand, with no brand fee.</a:t>
            </a:r>
          </a:p>
        </p:txBody>
      </p:sp>
      <p:sp>
        <p:nvSpPr>
          <p:cNvPr id="320" name="TextBox 320"/>
          <p:cNvSpPr txBox="1"/>
          <p:nvPr/>
        </p:nvSpPr>
        <p:spPr>
          <a:xfrm>
            <a:off x="10007600" y="87376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00" dirty="0">
                <a:solidFill>
                  <a:srgbClr val="CFE8E3"/>
                </a:solidFill>
                <a:latin typeface="Poppins Light"/>
                <a:cs typeface="Poppins Light"/>
              </a:rPr>
              <a:t>Dulcinea One owns the homes. ServCo operates them.</a:t>
            </a:r>
          </a:p>
        </p:txBody>
      </p:sp>
      <p:cxnSp>
        <p:nvCxnSpPr>
          <p:cNvPr id="325" name="Rule 325"/>
          <p:cNvCxnSpPr/>
          <p:nvPr/>
        </p:nvCxnSpPr>
        <p:spPr>
          <a:xfrm>
            <a:off x="9652000" y="4064000"/>
            <a:ext cx="7747000" cy="0"/>
          </a:xfrm>
          <a:prstGeom prst="line">
            <a:avLst/>
          </a:prstGeom>
          <a:ln w="9525">
            <a:solidFill>
              <a:srgbClr val="D9D9E3"/>
            </a:solidFill>
          </a:ln>
        </p:spPr>
      </p:cxnSp>
      <p:cxnSp>
        <p:nvCxnSpPr>
          <p:cNvPr id="326" name="Rule 326"/>
          <p:cNvCxnSpPr/>
          <p:nvPr/>
        </p:nvCxnSpPr>
        <p:spPr>
          <a:xfrm>
            <a:off x="9652000" y="5842000"/>
            <a:ext cx="7747000" cy="0"/>
          </a:xfrm>
          <a:prstGeom prst="line">
            <a:avLst/>
          </a:prstGeom>
          <a:ln w="9525">
            <a:solidFill>
              <a:srgbClr val="D9D9E3"/>
            </a:solidFill>
          </a:ln>
        </p:spPr>
      </p:cxnSp>
      <p:pic>
        <p:nvPicPr>
          <p:cNvPr id="327" name="Graphic 327" descr="Feath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0" y="2819400"/>
            <a:ext cx="381000" cy="381000"/>
          </a:xfrm>
          <a:prstGeom prst="rect">
            <a:avLst/>
          </a:prstGeom>
        </p:spPr>
      </p:pic>
      <p:pic>
        <p:nvPicPr>
          <p:cNvPr id="328" name="Graphic 328" descr="Bambo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0" y="6375400"/>
            <a:ext cx="381000" cy="381000"/>
          </a:xfrm>
          <a:prstGeom prst="rect">
            <a:avLst/>
          </a:prstGeom>
        </p:spPr>
      </p:pic>
      <p:pic>
        <p:nvPicPr>
          <p:cNvPr id="329" name="Graphic 329" descr="Glob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0" y="45974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5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9638" y="4084634"/>
            <a:ext cx="5597528" cy="4225928"/>
          </a:xfrm>
          <a:custGeom>
            <a:avLst/>
            <a:gdLst/>
            <a:ahLst/>
            <a:cxnLst/>
            <a:rect l="l" t="t" r="r" b="b"/>
            <a:pathLst>
              <a:path w="5597528" h="4225928">
                <a:moveTo>
                  <a:pt x="0" y="0"/>
                </a:moveTo>
                <a:lnTo>
                  <a:pt x="5597528" y="0"/>
                </a:lnTo>
                <a:lnTo>
                  <a:pt x="5597528" y="4225928"/>
                </a:lnTo>
                <a:lnTo>
                  <a:pt x="0" y="4225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3" name="Freeform 3"/>
          <p:cNvSpPr/>
          <p:nvPr/>
        </p:nvSpPr>
        <p:spPr>
          <a:xfrm>
            <a:off x="6624638" y="4084634"/>
            <a:ext cx="5343525" cy="4225928"/>
          </a:xfrm>
          <a:custGeom>
            <a:avLst/>
            <a:gdLst/>
            <a:ahLst/>
            <a:cxnLst/>
            <a:rect l="l" t="t" r="r" b="b"/>
            <a:pathLst>
              <a:path w="5343525" h="4225928">
                <a:moveTo>
                  <a:pt x="0" y="0"/>
                </a:moveTo>
                <a:lnTo>
                  <a:pt x="5343524" y="0"/>
                </a:lnTo>
                <a:lnTo>
                  <a:pt x="5343524" y="4225928"/>
                </a:lnTo>
                <a:lnTo>
                  <a:pt x="0" y="4225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400" name="Step 01"/>
          <p:cNvSpPr/>
          <p:nvPr/>
        </p:nvSpPr>
        <p:spPr>
          <a:xfrm>
            <a:off x="914400" y="2222500"/>
            <a:ext cx="3429000" cy="863600"/>
          </a:xfrm>
          <a:prstGeom prst="homePlate">
            <a:avLst>
              <a:gd name="adj" fmla="val 29412"/>
            </a:avLst>
          </a:prstGeom>
          <a:solidFill>
            <a:srgbClr val="103D40"/>
          </a:solidFill>
          <a:ln>
            <a:noFill/>
          </a:ln>
        </p:spPr>
        <p:txBody>
          <a:bodyPr wrap="none" lIns="635000" tIns="0" rIns="177800" bIns="0" anchor="ctr">
            <a:noAutofit/>
          </a:bodyPr>
          <a:lstStyle/>
          <a:p>
            <a:pPr algn="ctr"/>
            <a:r>
              <a:rPr lang="en-US" sz="170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</p:txBody>
      </p:sp>
      <p:sp>
        <p:nvSpPr>
          <p:cNvPr id="401" name="Step 02"/>
          <p:cNvSpPr/>
          <p:nvPr/>
        </p:nvSpPr>
        <p:spPr>
          <a:xfrm>
            <a:off x="4165600" y="2222500"/>
            <a:ext cx="3429000" cy="863600"/>
          </a:xfrm>
          <a:prstGeom prst="chevron">
            <a:avLst>
              <a:gd name="adj" fmla="val 29412"/>
            </a:avLst>
          </a:prstGeom>
          <a:solidFill>
            <a:srgbClr val="103D40"/>
          </a:solidFill>
          <a:ln>
            <a:noFill/>
          </a:ln>
        </p:spPr>
        <p:txBody>
          <a:bodyPr wrap="none" lIns="635000" tIns="0" rIns="177800" bIns="0" anchor="ctr">
            <a:noAutofit/>
          </a:bodyPr>
          <a:lstStyle/>
          <a:p>
            <a:pPr algn="ctr"/>
            <a:r>
              <a:rPr lang="en-US" sz="170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</p:txBody>
      </p:sp>
      <p:sp>
        <p:nvSpPr>
          <p:cNvPr id="402" name="Step 03"/>
          <p:cNvSpPr/>
          <p:nvPr/>
        </p:nvSpPr>
        <p:spPr>
          <a:xfrm>
            <a:off x="7416800" y="2222500"/>
            <a:ext cx="3429000" cy="863600"/>
          </a:xfrm>
          <a:prstGeom prst="chevron">
            <a:avLst>
              <a:gd name="adj" fmla="val 29412"/>
            </a:avLst>
          </a:prstGeom>
          <a:solidFill>
            <a:srgbClr val="103D40"/>
          </a:solidFill>
          <a:ln>
            <a:noFill/>
          </a:ln>
        </p:spPr>
        <p:txBody>
          <a:bodyPr wrap="none" lIns="635000" tIns="0" rIns="177800" bIns="0" anchor="ctr">
            <a:noAutofit/>
          </a:bodyPr>
          <a:lstStyle/>
          <a:p>
            <a:pPr algn="ctr"/>
            <a:r>
              <a:rPr lang="en-US" sz="170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</p:txBody>
      </p:sp>
      <p:sp>
        <p:nvSpPr>
          <p:cNvPr id="403" name="Step 04"/>
          <p:cNvSpPr/>
          <p:nvPr/>
        </p:nvSpPr>
        <p:spPr>
          <a:xfrm>
            <a:off x="10668000" y="2222500"/>
            <a:ext cx="3429000" cy="863600"/>
          </a:xfrm>
          <a:prstGeom prst="chevron">
            <a:avLst>
              <a:gd name="adj" fmla="val 29412"/>
            </a:avLst>
          </a:prstGeom>
          <a:solidFill>
            <a:srgbClr val="103D40"/>
          </a:solidFill>
          <a:ln>
            <a:noFill/>
          </a:ln>
        </p:spPr>
        <p:txBody>
          <a:bodyPr wrap="none" lIns="635000" tIns="0" rIns="177800" bIns="0" anchor="ctr">
            <a:noAutofit/>
          </a:bodyPr>
          <a:lstStyle/>
          <a:p>
            <a:pPr algn="ctr"/>
            <a:r>
              <a:rPr lang="en-US" sz="170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</p:txBody>
      </p:sp>
      <p:sp>
        <p:nvSpPr>
          <p:cNvPr id="404" name="Step 05"/>
          <p:cNvSpPr/>
          <p:nvPr/>
        </p:nvSpPr>
        <p:spPr>
          <a:xfrm>
            <a:off x="13919200" y="2222500"/>
            <a:ext cx="3429000" cy="863600"/>
          </a:xfrm>
          <a:prstGeom prst="chevron">
            <a:avLst>
              <a:gd name="adj" fmla="val 29412"/>
            </a:avLst>
          </a:prstGeom>
          <a:solidFill>
            <a:srgbClr val="B9684F"/>
          </a:solidFill>
          <a:ln>
            <a:noFill/>
          </a:ln>
        </p:spPr>
        <p:txBody>
          <a:bodyPr wrap="none" lIns="635000" tIns="0" rIns="177800" bIns="0" anchor="ctr">
            <a:noAutofit/>
          </a:bodyPr>
          <a:lstStyle/>
          <a:p>
            <a:pPr algn="ctr"/>
            <a:r>
              <a:rPr lang="en-US" sz="170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</p:txBody>
      </p:sp>
      <p:sp>
        <p:nvSpPr>
          <p:cNvPr id="7" name="Freeform 7"/>
          <p:cNvSpPr/>
          <p:nvPr/>
        </p:nvSpPr>
        <p:spPr>
          <a:xfrm>
            <a:off x="12085634" y="4084634"/>
            <a:ext cx="5292728" cy="4225928"/>
          </a:xfrm>
          <a:custGeom>
            <a:avLst/>
            <a:gdLst/>
            <a:ahLst/>
            <a:cxnLst/>
            <a:rect l="l" t="t" r="r" b="b"/>
            <a:pathLst>
              <a:path w="5292728" h="4225928">
                <a:moveTo>
                  <a:pt x="0" y="0"/>
                </a:moveTo>
                <a:lnTo>
                  <a:pt x="5292728" y="0"/>
                </a:lnTo>
                <a:lnTo>
                  <a:pt x="5292728" y="4225928"/>
                </a:lnTo>
                <a:lnTo>
                  <a:pt x="0" y="4225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9" name="TextBox 9"/>
          <p:cNvSpPr txBox="1"/>
          <p:nvPr/>
        </p:nvSpPr>
        <p:spPr>
          <a:xfrm>
            <a:off x="1028222" y="1655435"/>
            <a:ext cx="16383000" cy="37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Gains come from both ends: bought below comps, sold at appreciation target.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54372"/>
            <a:ext cx="16383000" cy="149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spc="219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Economics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2200" y="3213100"/>
            <a:ext cx="2946400" cy="30003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</a:t>
            </a:r>
            <a:r>
              <a:rPr lang="en-US" sz="1596" dirty="0" err="1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Poblado</a:t>
            </a:r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 · El Retiro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20368" y="3213100"/>
            <a:ext cx="3171031" cy="3302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20–30% below comps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96200" y="3213100"/>
            <a:ext cx="3048000" cy="609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6-9 months for improvements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93500" y="3213100"/>
            <a:ext cx="1676400" cy="262399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Furnished let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58700" y="6674795"/>
            <a:ext cx="4489666" cy="25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96" spc="1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Base case 30%. Downside at 25%: 1.36x.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31962" y="3213100"/>
            <a:ext cx="2946400" cy="303384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25–35-month hold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6691" y="4272800"/>
            <a:ext cx="5080000" cy="22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400" spc="2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PROPERTY · WHERE THE GAIN COMES FROM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01691" y="4272800"/>
            <a:ext cx="4826000" cy="22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400" spc="2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IRR BRIDGE · DEAL TO INVESTOR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62688" y="4272800"/>
            <a:ext cx="4775200" cy="22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400" spc="2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INVESTOR RETURNS · AFTER TAX &amp; CARRY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41250" y="5648372"/>
            <a:ext cx="1270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25% discount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03350" y="5648372"/>
            <a:ext cx="1270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 spc="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30% discount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665450" y="5648372"/>
            <a:ext cx="1270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35% discount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98400" y="5010320"/>
            <a:ext cx="1143000" cy="49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13.2%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166850" y="5010320"/>
            <a:ext cx="1143000" cy="49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15.7%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722600" y="5010320"/>
            <a:ext cx="1143000" cy="49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0" spc="3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18.5%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196112" y="6235910"/>
            <a:ext cx="1270000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400" spc="199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BASE CASE</a:t>
            </a:r>
          </a:p>
        </p:txBody>
      </p:sp>
      <p:sp>
        <p:nvSpPr>
          <p:cNvPr id="60" name="Scope Note 60"/>
          <p:cNvSpPr txBox="1"/>
          <p:nvPr/>
        </p:nvSpPr>
        <p:spPr>
          <a:xfrm>
            <a:off x="914400" y="9042400"/>
            <a:ext cx="164338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4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Five Investment Criteria properties: one bought, one in negotiation. Exits assume 8.5% El Poblado / 7.15% El Retiro yearly appreciation. USD at TRM 3,090.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="6794500" y="4546600"/>
          <a:ext cx="5016500" cy="273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1155700" y="4546600"/>
          <a:ext cx="5080000" cy="273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0" name="Chart key 70"/>
          <p:cNvSpPr txBox="1"/>
          <p:nvPr/>
        </p:nvSpPr>
        <p:spPr>
          <a:xfrm>
            <a:off x="1282700" y="7404100"/>
            <a:ext cx="5207000" cy="25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96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Cost</a:t>
            </a:r>
            <a:r>
              <a:rPr lang="en-US" sz="1596">
                <a:solidFill>
                  <a:srgbClr val="9A9A9A"/>
                </a:solidFill>
                <a:latin typeface="Poppins Light"/>
                <a:ea typeface="Poppins Light"/>
                <a:cs typeface="Poppins Light"/>
                <a:sym typeface="Poppins Light"/>
              </a:rPr>
              <a:t>  ·  </a:t>
            </a:r>
            <a:r>
              <a:rPr lang="en-US" sz="1596">
                <a:solidFill>
                  <a:srgbClr val="A87A2F"/>
                </a:solidFill>
                <a:latin typeface="Poppins Light"/>
                <a:ea typeface="Poppins Light"/>
                <a:cs typeface="Poppins Light"/>
                <a:sym typeface="Poppins Light"/>
              </a:rPr>
              <a:t>Bought below comps</a:t>
            </a:r>
            <a:r>
              <a:rPr lang="en-US" sz="1596">
                <a:solidFill>
                  <a:srgbClr val="9A9A9A"/>
                </a:solidFill>
                <a:latin typeface="Poppins Light"/>
                <a:ea typeface="Poppins Light"/>
                <a:cs typeface="Poppins Light"/>
                <a:sym typeface="Poppins Light"/>
              </a:rPr>
              <a:t>  ·  </a:t>
            </a:r>
            <a:r>
              <a:rPr lang="en-US" sz="1596">
                <a:solidFill>
                  <a:srgbClr val="2E857D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Appreciation</a:t>
            </a:r>
          </a:p>
        </p:txBody>
      </p:sp>
      <p:sp>
        <p:nvSpPr>
          <p:cNvPr id="450" name="Return 0"/>
          <p:cNvSpPr txBox="1"/>
          <p:nvPr/>
        </p:nvSpPr>
        <p:spPr>
          <a:xfrm>
            <a:off x="12471400" y="7213600"/>
            <a:ext cx="142240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200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$9.65M</a:t>
            </a:r>
          </a:p>
        </p:txBody>
      </p:sp>
      <p:sp>
        <p:nvSpPr>
          <p:cNvPr id="451" name="Return label 0"/>
          <p:cNvSpPr txBox="1"/>
          <p:nvPr/>
        </p:nvSpPr>
        <p:spPr>
          <a:xfrm>
            <a:off x="12547600" y="7670800"/>
            <a:ext cx="1270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distributed</a:t>
            </a:r>
          </a:p>
        </p:txBody>
      </p:sp>
      <p:sp>
        <p:nvSpPr>
          <p:cNvPr id="452" name="Return 1"/>
          <p:cNvSpPr txBox="1"/>
          <p:nvPr/>
        </p:nvSpPr>
        <p:spPr>
          <a:xfrm>
            <a:off x="14033500" y="7213600"/>
            <a:ext cx="142240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200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1.44x</a:t>
            </a:r>
          </a:p>
        </p:txBody>
      </p:sp>
      <p:sp>
        <p:nvSpPr>
          <p:cNvPr id="453" name="Return label 1"/>
          <p:cNvSpPr txBox="1"/>
          <p:nvPr/>
        </p:nvSpPr>
        <p:spPr>
          <a:xfrm>
            <a:off x="14109700" y="7670800"/>
            <a:ext cx="1270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MOIC</a:t>
            </a:r>
          </a:p>
        </p:txBody>
      </p:sp>
      <p:sp>
        <p:nvSpPr>
          <p:cNvPr id="454" name="Return 2"/>
          <p:cNvSpPr txBox="1"/>
          <p:nvPr/>
        </p:nvSpPr>
        <p:spPr>
          <a:xfrm>
            <a:off x="15595600" y="7213600"/>
            <a:ext cx="142240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200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Year 4</a:t>
            </a:r>
          </a:p>
        </p:txBody>
      </p:sp>
      <p:sp>
        <p:nvSpPr>
          <p:cNvPr id="455" name="Return label 2"/>
          <p:cNvSpPr txBox="1"/>
          <p:nvPr/>
        </p:nvSpPr>
        <p:spPr>
          <a:xfrm>
            <a:off x="15671800" y="7670800"/>
            <a:ext cx="1270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capital back</a:t>
            </a:r>
          </a:p>
        </p:txBody>
      </p:sp>
      <p:pic>
        <p:nvPicPr>
          <p:cNvPr id="456" name="Graphic 4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1900" y="2476500"/>
            <a:ext cx="355600" cy="355600"/>
          </a:xfrm>
          <a:prstGeom prst="rect">
            <a:avLst/>
          </a:prstGeom>
        </p:spPr>
      </p:pic>
      <p:pic>
        <p:nvPicPr>
          <p:cNvPr id="457" name="Graphic 4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3100" y="2476500"/>
            <a:ext cx="355600" cy="355600"/>
          </a:xfrm>
          <a:prstGeom prst="rect">
            <a:avLst/>
          </a:prstGeom>
        </p:spPr>
      </p:pic>
      <p:pic>
        <p:nvPicPr>
          <p:cNvPr id="458" name="Graphic 4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4300" y="2476500"/>
            <a:ext cx="355600" cy="355600"/>
          </a:xfrm>
          <a:prstGeom prst="rect">
            <a:avLst/>
          </a:prstGeom>
        </p:spPr>
      </p:pic>
      <p:pic>
        <p:nvPicPr>
          <p:cNvPr id="459" name="Graphic 4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85500" y="2476500"/>
            <a:ext cx="355600" cy="355600"/>
          </a:xfrm>
          <a:prstGeom prst="rect">
            <a:avLst/>
          </a:prstGeom>
        </p:spPr>
      </p:pic>
      <p:pic>
        <p:nvPicPr>
          <p:cNvPr id="460" name="Graphic 4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36700" y="2476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8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C9038-AE4B-499D-A1BF-9186DA8ECB77}"/>
              </a:ext>
            </a:extLst>
          </p:cNvPr>
          <p:cNvSpPr txBox="1"/>
          <p:nvPr/>
        </p:nvSpPr>
        <p:spPr>
          <a:xfrm>
            <a:off x="774700" y="152400"/>
            <a:ext cx="164592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cs typeface="Poppins Extra-Light"/>
              </a:rPr>
              <a:t>Investment Criteria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711B7-14F6-4643-A2AE-D0FC5AD1CE5F}"/>
              </a:ext>
            </a:extLst>
          </p:cNvPr>
          <p:cNvSpPr txBox="1"/>
          <p:nvPr/>
        </p:nvSpPr>
        <p:spPr>
          <a:xfrm>
            <a:off x="800100" y="1778000"/>
            <a:ext cx="164592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196" dirty="0">
                <a:solidFill>
                  <a:srgbClr val="273238"/>
                </a:solidFill>
                <a:latin typeface="Poppins Light"/>
                <a:cs typeface="Poppins Light"/>
              </a:rPr>
              <a:t>KIT Capital’s Buy Box™: a ten-test acquisition filter, built deal by deal. A home clears all ten or we pass.</a:t>
            </a:r>
          </a:p>
        </p:txBody>
      </p:sp>
      <p:sp>
        <p:nvSpPr>
          <p:cNvPr id="600" name="Tile 1"/>
          <p:cNvSpPr/>
          <p:nvPr/>
        </p:nvSpPr>
        <p:spPr>
          <a:xfrm>
            <a:off x="914400" y="26924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B216C-2BF2-489D-B794-6CBA5471325B}"/>
              </a:ext>
            </a:extLst>
          </p:cNvPr>
          <p:cNvSpPr txBox="1"/>
          <p:nvPr/>
        </p:nvSpPr>
        <p:spPr>
          <a:xfrm>
            <a:off x="1092200" y="29464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 dirty="0">
                <a:solidFill>
                  <a:srgbClr val="B9684F"/>
                </a:solidFill>
                <a:latin typeface="Poppins Light"/>
                <a:cs typeface="Poppins Light"/>
              </a:rPr>
              <a:t>LOCATION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AB2F1-9E1A-424D-9D8A-594A208A7CF8}"/>
              </a:ext>
            </a:extLst>
          </p:cNvPr>
          <p:cNvSpPr txBox="1"/>
          <p:nvPr/>
        </p:nvSpPr>
        <p:spPr>
          <a:xfrm>
            <a:off x="1092200" y="44704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El Poblado and El Retiro only</a:t>
            </a:r>
          </a:p>
        </p:txBody>
      </p:sp>
      <p:sp>
        <p:nvSpPr>
          <p:cNvPr id="601" name="Tile 2"/>
          <p:cNvSpPr/>
          <p:nvPr/>
        </p:nvSpPr>
        <p:spPr>
          <a:xfrm>
            <a:off x="4246880" y="26924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DE466-5FED-4433-BBF0-625484AB8546}"/>
              </a:ext>
            </a:extLst>
          </p:cNvPr>
          <p:cNvSpPr txBox="1"/>
          <p:nvPr/>
        </p:nvSpPr>
        <p:spPr>
          <a:xfrm>
            <a:off x="4424680" y="29464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ENJOYMENT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CF983-C2C3-447C-917F-22CFBA24B24F}"/>
              </a:ext>
            </a:extLst>
          </p:cNvPr>
          <p:cNvSpPr txBox="1"/>
          <p:nvPr/>
        </p:nvSpPr>
        <p:spPr>
          <a:xfrm>
            <a:off x="4424680" y="44704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homes investors want to live in</a:t>
            </a:r>
          </a:p>
        </p:txBody>
      </p:sp>
      <p:sp>
        <p:nvSpPr>
          <p:cNvPr id="602" name="Tile 3"/>
          <p:cNvSpPr/>
          <p:nvPr/>
        </p:nvSpPr>
        <p:spPr>
          <a:xfrm>
            <a:off x="7579360" y="26924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0C75A2-F269-47BC-A3E0-E51E074C7A75}"/>
              </a:ext>
            </a:extLst>
          </p:cNvPr>
          <p:cNvSpPr txBox="1"/>
          <p:nvPr/>
        </p:nvSpPr>
        <p:spPr>
          <a:xfrm>
            <a:off x="7757160" y="29464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3C776-F94F-4174-8254-C5B8E7EA0DDD}"/>
              </a:ext>
            </a:extLst>
          </p:cNvPr>
          <p:cNvSpPr txBox="1"/>
          <p:nvPr/>
        </p:nvSpPr>
        <p:spPr>
          <a:xfrm>
            <a:off x="7757160" y="44704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apartments, penthouses, houses</a:t>
            </a:r>
          </a:p>
        </p:txBody>
      </p:sp>
      <p:sp>
        <p:nvSpPr>
          <p:cNvPr id="603" name="Tile 4"/>
          <p:cNvSpPr/>
          <p:nvPr/>
        </p:nvSpPr>
        <p:spPr>
          <a:xfrm>
            <a:off x="10911840" y="26924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EA3600-CA97-4DA6-9081-0D5A0AE27A00}"/>
              </a:ext>
            </a:extLst>
          </p:cNvPr>
          <p:cNvSpPr txBox="1"/>
          <p:nvPr/>
        </p:nvSpPr>
        <p:spPr>
          <a:xfrm>
            <a:off x="11089640" y="29464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ENTRY PRICE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90BD4-FF16-4C85-800B-E78C816ECEA9}"/>
              </a:ext>
            </a:extLst>
          </p:cNvPr>
          <p:cNvSpPr txBox="1"/>
          <p:nvPr/>
        </p:nvSpPr>
        <p:spPr>
          <a:xfrm>
            <a:off x="11089640" y="44704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improved value at purchase</a:t>
            </a:r>
          </a:p>
        </p:txBody>
      </p:sp>
      <p:sp>
        <p:nvSpPr>
          <p:cNvPr id="604" name="Tile 5"/>
          <p:cNvSpPr/>
          <p:nvPr/>
        </p:nvSpPr>
        <p:spPr>
          <a:xfrm>
            <a:off x="14244320" y="26924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89682-D5A9-4709-8388-1CD6D8A4EAD8}"/>
              </a:ext>
            </a:extLst>
          </p:cNvPr>
          <p:cNvSpPr txBox="1"/>
          <p:nvPr/>
        </p:nvSpPr>
        <p:spPr>
          <a:xfrm>
            <a:off x="14422120" y="29464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TRANSFORMATION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037933-049C-4E34-AE0C-C7AA022B9ACC}"/>
              </a:ext>
            </a:extLst>
          </p:cNvPr>
          <p:cNvSpPr txBox="1"/>
          <p:nvPr/>
        </p:nvSpPr>
        <p:spPr>
          <a:xfrm>
            <a:off x="14422120" y="44704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of works, incl. FF&amp;E</a:t>
            </a:r>
          </a:p>
        </p:txBody>
      </p:sp>
      <p:sp>
        <p:nvSpPr>
          <p:cNvPr id="605" name="Tile 6"/>
          <p:cNvSpPr/>
          <p:nvPr/>
        </p:nvSpPr>
        <p:spPr>
          <a:xfrm>
            <a:off x="914400" y="54991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B1E804-7D09-4F38-A1D1-D359E219A88F}"/>
              </a:ext>
            </a:extLst>
          </p:cNvPr>
          <p:cNvSpPr txBox="1"/>
          <p:nvPr/>
        </p:nvSpPr>
        <p:spPr>
          <a:xfrm>
            <a:off x="1092200" y="57531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DEEP DUE DILIGENCE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797DB-4D96-42F4-A876-23C7CDD62508}"/>
              </a:ext>
            </a:extLst>
          </p:cNvPr>
          <p:cNvSpPr txBox="1"/>
          <p:nvPr/>
        </p:nvSpPr>
        <p:spPr>
          <a:xfrm>
            <a:off x="1092200" y="72771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technical, legal and title</a:t>
            </a:r>
          </a:p>
        </p:txBody>
      </p:sp>
      <p:sp>
        <p:nvSpPr>
          <p:cNvPr id="606" name="Tile 7"/>
          <p:cNvSpPr/>
          <p:nvPr/>
        </p:nvSpPr>
        <p:spPr>
          <a:xfrm>
            <a:off x="4246880" y="54991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CE64A6-7D19-4AE1-855F-A56A626CE5B5}"/>
              </a:ext>
            </a:extLst>
          </p:cNvPr>
          <p:cNvSpPr txBox="1"/>
          <p:nvPr/>
        </p:nvSpPr>
        <p:spPr>
          <a:xfrm>
            <a:off x="4424680" y="57531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OPERATION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05B30F-14A0-427C-86DF-88E078084BB0}"/>
              </a:ext>
            </a:extLst>
          </p:cNvPr>
          <p:cNvSpPr txBox="1"/>
          <p:nvPr/>
        </p:nvSpPr>
        <p:spPr>
          <a:xfrm>
            <a:off x="4424680" y="72771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per night · $9,500 cap per 28 nights</a:t>
            </a:r>
          </a:p>
        </p:txBody>
      </p:sp>
      <p:sp>
        <p:nvSpPr>
          <p:cNvPr id="607" name="Tile 8"/>
          <p:cNvSpPr/>
          <p:nvPr/>
        </p:nvSpPr>
        <p:spPr>
          <a:xfrm>
            <a:off x="7579360" y="54991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0CD829-CA40-47D4-A3B7-19F8AC2A195F}"/>
              </a:ext>
            </a:extLst>
          </p:cNvPr>
          <p:cNvSpPr txBox="1"/>
          <p:nvPr/>
        </p:nvSpPr>
        <p:spPr>
          <a:xfrm>
            <a:off x="7757160" y="57531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HOLD &amp; EXIT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65F458-5C26-41ED-949A-BF875A5F057E}"/>
              </a:ext>
            </a:extLst>
          </p:cNvPr>
          <p:cNvSpPr txBox="1"/>
          <p:nvPr/>
        </p:nvSpPr>
        <p:spPr>
          <a:xfrm>
            <a:off x="7757160" y="72771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hold, then sell</a:t>
            </a:r>
          </a:p>
        </p:txBody>
      </p:sp>
      <p:sp>
        <p:nvSpPr>
          <p:cNvPr id="608" name="Tile 9"/>
          <p:cNvSpPr/>
          <p:nvPr/>
        </p:nvSpPr>
        <p:spPr>
          <a:xfrm>
            <a:off x="10911840" y="5499100"/>
            <a:ext cx="3129280" cy="26035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879999-4EB4-488A-98D4-21CCACB5CC22}"/>
              </a:ext>
            </a:extLst>
          </p:cNvPr>
          <p:cNvSpPr txBox="1"/>
          <p:nvPr/>
        </p:nvSpPr>
        <p:spPr>
          <a:xfrm>
            <a:off x="11089640" y="57531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B9684F"/>
                </a:solidFill>
                <a:latin typeface="Poppins Light"/>
                <a:cs typeface="Poppins Light"/>
              </a:rPr>
              <a:t>DEAL SIZE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79AAB1-F489-4303-B820-1594D47E75B0}"/>
              </a:ext>
            </a:extLst>
          </p:cNvPr>
          <p:cNvSpPr txBox="1"/>
          <p:nvPr/>
        </p:nvSpPr>
        <p:spPr>
          <a:xfrm>
            <a:off x="11089640" y="72771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Poppins Light"/>
                <a:cs typeface="Poppins Light"/>
              </a:rPr>
              <a:t>all-in per home</a:t>
            </a:r>
          </a:p>
        </p:txBody>
      </p:sp>
      <p:sp>
        <p:nvSpPr>
          <p:cNvPr id="609" name="Tile 10"/>
          <p:cNvSpPr/>
          <p:nvPr/>
        </p:nvSpPr>
        <p:spPr>
          <a:xfrm>
            <a:off x="14244320" y="5499100"/>
            <a:ext cx="3129280" cy="26035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E6F0F-9B45-4BEF-8671-9F25FD8A2200}"/>
              </a:ext>
            </a:extLst>
          </p:cNvPr>
          <p:cNvSpPr txBox="1"/>
          <p:nvPr/>
        </p:nvSpPr>
        <p:spPr>
          <a:xfrm>
            <a:off x="14422120" y="5753100"/>
            <a:ext cx="2240280" cy="254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100" spc="150">
                <a:solidFill>
                  <a:srgbClr val="103D40"/>
                </a:solidFill>
                <a:latin typeface="Poppins Light"/>
                <a:cs typeface="Poppins Light"/>
              </a:rPr>
              <a:t>MINIMUM RETURN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62B481-C0B6-43FA-864E-95BD24F677CF}"/>
              </a:ext>
            </a:extLst>
          </p:cNvPr>
          <p:cNvSpPr txBox="1"/>
          <p:nvPr/>
        </p:nvSpPr>
        <p:spPr>
          <a:xfrm>
            <a:off x="14422120" y="7277100"/>
            <a:ext cx="2773680" cy="635000"/>
          </a:xfrm>
          <a:prstGeom prst="rect">
            <a:avLst/>
          </a:prstGeom>
          <a:noFill/>
        </p:spPr>
        <p:txBody>
          <a:bodyPr vertOverflow="overflow" vert="horz" wrap="square" lIns="36000" tIns="0" rIns="36000" bIns="0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03D40"/>
                </a:solidFill>
                <a:latin typeface="Poppins Light"/>
                <a:cs typeface="Poppins Light"/>
              </a:rPr>
              <a:t>to investors, after carry and gains tax</a:t>
            </a:r>
          </a:p>
        </p:txBody>
      </p:sp>
      <p:sp>
        <p:nvSpPr>
          <p:cNvPr id="500" name="Closer"/>
          <p:cNvSpPr/>
          <p:nvPr/>
        </p:nvSpPr>
        <p:spPr>
          <a:xfrm>
            <a:off x="914400" y="8534400"/>
            <a:ext cx="164592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anchor="ctr"/>
          <a:lstStyle/>
          <a:p>
            <a:r>
              <a:rPr lang="en-US" sz="1400" spc="120" dirty="0">
                <a:solidFill>
                  <a:srgbClr val="103D40"/>
                </a:solidFill>
                <a:latin typeface="Poppins Light"/>
                <a:cs typeface="Poppins Light"/>
              </a:rPr>
              <a:t>BOTTOM LINE   </a:t>
            </a:r>
            <a:r>
              <a:rPr lang="en-US" sz="2200" dirty="0">
                <a:solidFill>
                  <a:srgbClr val="103D40"/>
                </a:solidFill>
                <a:latin typeface="Georgia"/>
                <a:cs typeface="Georgia"/>
              </a:rPr>
              <a:t>Ten tests, no exceptions. Miss one and the home is not bought, whatever the price.</a:t>
            </a:r>
          </a:p>
        </p:txBody>
      </p:sp>
      <p:pic>
        <p:nvPicPr>
          <p:cNvPr id="501" name="Graphic 501" descr="Lo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4080" y="2895600"/>
            <a:ext cx="381000" cy="381000"/>
          </a:xfrm>
          <a:prstGeom prst="rect">
            <a:avLst/>
          </a:prstGeom>
        </p:spPr>
      </p:pic>
      <p:pic>
        <p:nvPicPr>
          <p:cNvPr id="502" name="Graphic 502" descr="Enjo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0" y="2895600"/>
            <a:ext cx="381000" cy="381000"/>
          </a:xfrm>
          <a:prstGeom prst="rect">
            <a:avLst/>
          </a:prstGeom>
        </p:spPr>
      </p:pic>
      <p:pic>
        <p:nvPicPr>
          <p:cNvPr id="503" name="Graphic 503" descr="Product siz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9040" y="2895600"/>
            <a:ext cx="381000" cy="381000"/>
          </a:xfrm>
          <a:prstGeom prst="rect">
            <a:avLst/>
          </a:prstGeom>
        </p:spPr>
      </p:pic>
      <p:pic>
        <p:nvPicPr>
          <p:cNvPr id="504" name="Graphic 504" descr="Entry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31520" y="2895600"/>
            <a:ext cx="381000" cy="381000"/>
          </a:xfrm>
          <a:prstGeom prst="rect">
            <a:avLst/>
          </a:prstGeom>
        </p:spPr>
      </p:pic>
      <p:pic>
        <p:nvPicPr>
          <p:cNvPr id="505" name="Graphic 505" descr="Transform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00" y="2895600"/>
            <a:ext cx="381000" cy="381000"/>
          </a:xfrm>
          <a:prstGeom prst="rect">
            <a:avLst/>
          </a:prstGeom>
        </p:spPr>
      </p:pic>
      <p:pic>
        <p:nvPicPr>
          <p:cNvPr id="506" name="Graphic 506" descr="Due dilig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4080" y="5702300"/>
            <a:ext cx="381000" cy="381000"/>
          </a:xfrm>
          <a:prstGeom prst="rect">
            <a:avLst/>
          </a:prstGeom>
        </p:spPr>
      </p:pic>
      <p:pic>
        <p:nvPicPr>
          <p:cNvPr id="507" name="Graphic 507" descr="Ope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6560" y="5702300"/>
            <a:ext cx="381000" cy="381000"/>
          </a:xfrm>
          <a:prstGeom prst="rect">
            <a:avLst/>
          </a:prstGeom>
        </p:spPr>
      </p:pic>
      <p:pic>
        <p:nvPicPr>
          <p:cNvPr id="508" name="Graphic 508" descr="Hold and ex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99040" y="5702300"/>
            <a:ext cx="381000" cy="381000"/>
          </a:xfrm>
          <a:prstGeom prst="rect">
            <a:avLst/>
          </a:prstGeom>
        </p:spPr>
      </p:pic>
      <p:pic>
        <p:nvPicPr>
          <p:cNvPr id="509" name="Graphic 509" descr="Deal siz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31520" y="5702300"/>
            <a:ext cx="381000" cy="381000"/>
          </a:xfrm>
          <a:prstGeom prst="rect">
            <a:avLst/>
          </a:prstGeom>
        </p:spPr>
      </p:pic>
      <p:pic>
        <p:nvPicPr>
          <p:cNvPr id="510" name="Graphic 510" descr="Minimum retur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64000" y="5702300"/>
            <a:ext cx="381000" cy="381000"/>
          </a:xfrm>
          <a:prstGeom prst="rect">
            <a:avLst/>
          </a:prstGeom>
        </p:spPr>
      </p:pic>
      <p:sp>
        <p:nvSpPr>
          <p:cNvPr id="700" name="Hero 1"/>
          <p:cNvSpPr txBox="1"/>
          <p:nvPr/>
        </p:nvSpPr>
        <p:spPr>
          <a:xfrm>
            <a:off x="1092200" y="35560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2 submarkets</a:t>
            </a:r>
          </a:p>
        </p:txBody>
      </p:sp>
      <p:sp>
        <p:nvSpPr>
          <p:cNvPr id="701" name="Hero 2"/>
          <p:cNvSpPr txBox="1"/>
          <p:nvPr/>
        </p:nvSpPr>
        <p:spPr>
          <a:xfrm>
            <a:off x="4424680" y="35560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Own &amp; use</a:t>
            </a:r>
          </a:p>
        </p:txBody>
      </p:sp>
      <p:sp>
        <p:nvSpPr>
          <p:cNvPr id="702" name="Hero 3"/>
          <p:cNvSpPr txBox="1"/>
          <p:nvPr/>
        </p:nvSpPr>
        <p:spPr>
          <a:xfrm>
            <a:off x="7757160" y="35560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300–600 m²</a:t>
            </a:r>
          </a:p>
        </p:txBody>
      </p:sp>
      <p:sp>
        <p:nvSpPr>
          <p:cNvPr id="703" name="Hero 4"/>
          <p:cNvSpPr txBox="1"/>
          <p:nvPr/>
        </p:nvSpPr>
        <p:spPr>
          <a:xfrm>
            <a:off x="11089640" y="35560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20–30% below</a:t>
            </a:r>
          </a:p>
        </p:txBody>
      </p:sp>
      <p:sp>
        <p:nvSpPr>
          <p:cNvPr id="704" name="Hero 5"/>
          <p:cNvSpPr txBox="1"/>
          <p:nvPr/>
        </p:nvSpPr>
        <p:spPr>
          <a:xfrm>
            <a:off x="14422120" y="35560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~6 months</a:t>
            </a:r>
          </a:p>
        </p:txBody>
      </p:sp>
      <p:sp>
        <p:nvSpPr>
          <p:cNvPr id="705" name="Hero 6"/>
          <p:cNvSpPr txBox="1"/>
          <p:nvPr/>
        </p:nvSpPr>
        <p:spPr>
          <a:xfrm>
            <a:off x="1092200" y="63627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Full DD</a:t>
            </a:r>
          </a:p>
        </p:txBody>
      </p:sp>
      <p:sp>
        <p:nvSpPr>
          <p:cNvPr id="706" name="Hero 7"/>
          <p:cNvSpPr txBox="1"/>
          <p:nvPr/>
        </p:nvSpPr>
        <p:spPr>
          <a:xfrm>
            <a:off x="4424680" y="63627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$300–1,000</a:t>
            </a:r>
          </a:p>
        </p:txBody>
      </p:sp>
      <p:sp>
        <p:nvSpPr>
          <p:cNvPr id="707" name="Hero 8"/>
          <p:cNvSpPr txBox="1"/>
          <p:nvPr/>
        </p:nvSpPr>
        <p:spPr>
          <a:xfrm>
            <a:off x="7757160" y="63627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24–36 mo</a:t>
            </a:r>
          </a:p>
        </p:txBody>
      </p:sp>
      <p:sp>
        <p:nvSpPr>
          <p:cNvPr id="708" name="Hero 9"/>
          <p:cNvSpPr txBox="1"/>
          <p:nvPr/>
        </p:nvSpPr>
        <p:spPr>
          <a:xfrm>
            <a:off x="11089640" y="63627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cs typeface="Georgia"/>
              </a:rPr>
              <a:t>$750K–$2M</a:t>
            </a:r>
          </a:p>
        </p:txBody>
      </p:sp>
      <p:sp>
        <p:nvSpPr>
          <p:cNvPr id="709" name="Hero 10"/>
          <p:cNvSpPr txBox="1"/>
          <p:nvPr/>
        </p:nvSpPr>
        <p:spPr>
          <a:xfrm>
            <a:off x="14422120" y="6362700"/>
            <a:ext cx="2773680" cy="889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algn="l"/>
            <a:r>
              <a:rPr lang="en-US" sz="3000" dirty="0">
                <a:solidFill>
                  <a:srgbClr val="103D40"/>
                </a:solidFill>
                <a:latin typeface="Georgia"/>
                <a:cs typeface="Georgia"/>
              </a:rPr>
              <a:t>15% IRR</a:t>
            </a:r>
          </a:p>
        </p:txBody>
      </p:sp>
    </p:spTree>
    <p:extLst>
      <p:ext uri="{BB962C8B-B14F-4D97-AF65-F5344CB8AC3E}">
        <p14:creationId xmlns:p14="http://schemas.microsoft.com/office/powerpoint/2010/main" val="29009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1"/>
          <p:cNvSpPr/>
          <p:nvPr/>
        </p:nvSpPr>
        <p:spPr>
          <a:xfrm>
            <a:off x="17665700" y="0"/>
            <a:ext cx="622300" cy="10287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2"/>
          <p:cNvSpPr txBox="1"/>
          <p:nvPr/>
        </p:nvSpPr>
        <p:spPr>
          <a:xfrm>
            <a:off x="774700" y="152400"/>
            <a:ext cx="16510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Investment Criteria in Action</a:t>
            </a:r>
          </a:p>
        </p:txBody>
      </p:sp>
      <p:sp>
        <p:nvSpPr>
          <p:cNvPr id="102" name="TextBox 103"/>
          <p:cNvSpPr txBox="1"/>
          <p:nvPr/>
        </p:nvSpPr>
        <p:spPr>
          <a:xfrm>
            <a:off x="800100" y="1676400"/>
            <a:ext cx="15875000" cy="363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2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Five properties that clear the criteria, each 20–30% below what a finished home sells for per m².</a:t>
            </a:r>
          </a:p>
        </p:txBody>
      </p:sp>
      <p:sp>
        <p:nvSpPr>
          <p:cNvPr id="105" name="Shape 106"/>
          <p:cNvSpPr/>
          <p:nvPr/>
        </p:nvSpPr>
        <p:spPr>
          <a:xfrm>
            <a:off x="914400" y="3327400"/>
            <a:ext cx="16484600" cy="5588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7"/>
          <p:cNvSpPr txBox="1"/>
          <p:nvPr/>
        </p:nvSpPr>
        <p:spPr>
          <a:xfrm>
            <a:off x="1168400" y="3327400"/>
            <a:ext cx="2971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PROPERTY</a:t>
            </a:r>
          </a:p>
        </p:txBody>
      </p:sp>
      <p:sp>
        <p:nvSpPr>
          <p:cNvPr id="107" name="TextBox 108"/>
          <p:cNvSpPr txBox="1"/>
          <p:nvPr/>
        </p:nvSpPr>
        <p:spPr>
          <a:xfrm>
            <a:off x="4572000" y="3327400"/>
            <a:ext cx="27432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 · BUILT m²</a:t>
            </a:r>
          </a:p>
        </p:txBody>
      </p:sp>
      <p:sp>
        <p:nvSpPr>
          <p:cNvPr id="108" name="TextBox 109"/>
          <p:cNvSpPr txBox="1"/>
          <p:nvPr/>
        </p:nvSpPr>
        <p:spPr>
          <a:xfrm>
            <a:off x="7518400" y="3327400"/>
            <a:ext cx="1701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PURCHASE $/m²</a:t>
            </a:r>
          </a:p>
        </p:txBody>
      </p:sp>
      <p:sp>
        <p:nvSpPr>
          <p:cNvPr id="109" name="TextBox 110"/>
          <p:cNvSpPr txBox="1"/>
          <p:nvPr/>
        </p:nvSpPr>
        <p:spPr>
          <a:xfrm>
            <a:off x="9423400" y="3327400"/>
            <a:ext cx="1701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ALL-IN $/m²</a:t>
            </a:r>
          </a:p>
        </p:txBody>
      </p:sp>
      <p:sp>
        <p:nvSpPr>
          <p:cNvPr id="110" name="TextBox 111"/>
          <p:cNvSpPr txBox="1"/>
          <p:nvPr/>
        </p:nvSpPr>
        <p:spPr>
          <a:xfrm>
            <a:off x="11176000" y="33274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RENOVATED COMP $/m²</a:t>
            </a:r>
          </a:p>
        </p:txBody>
      </p:sp>
      <p:sp>
        <p:nvSpPr>
          <p:cNvPr id="111" name="TextBox 112"/>
          <p:cNvSpPr txBox="1"/>
          <p:nvPr/>
        </p:nvSpPr>
        <p:spPr>
          <a:xfrm>
            <a:off x="14376400" y="3327400"/>
            <a:ext cx="14478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300" spc="8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</p:txBody>
      </p:sp>
      <p:sp>
        <p:nvSpPr>
          <p:cNvPr id="113" name="Shape 114"/>
          <p:cNvSpPr/>
          <p:nvPr/>
        </p:nvSpPr>
        <p:spPr>
          <a:xfrm>
            <a:off x="914400" y="3886200"/>
            <a:ext cx="164846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5"/>
          <p:cNvSpPr/>
          <p:nvPr/>
        </p:nvSpPr>
        <p:spPr>
          <a:xfrm>
            <a:off x="914400" y="4838700"/>
            <a:ext cx="16484600" cy="127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6"/>
          <p:cNvSpPr txBox="1"/>
          <p:nvPr/>
        </p:nvSpPr>
        <p:spPr>
          <a:xfrm>
            <a:off x="2184400" y="3886200"/>
            <a:ext cx="2108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San Lucas 101</a:t>
            </a:r>
          </a:p>
        </p:txBody>
      </p:sp>
      <p:sp>
        <p:nvSpPr>
          <p:cNvPr id="116" name="TextBox 117"/>
          <p:cNvSpPr txBox="1"/>
          <p:nvPr/>
        </p:nvSpPr>
        <p:spPr>
          <a:xfrm>
            <a:off x="4572000" y="3886200"/>
            <a:ext cx="2743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Poblado apartment · 325</a:t>
            </a:r>
          </a:p>
        </p:txBody>
      </p:sp>
      <p:sp>
        <p:nvSpPr>
          <p:cNvPr id="117" name="TextBox 118"/>
          <p:cNvSpPr txBox="1"/>
          <p:nvPr/>
        </p:nvSpPr>
        <p:spPr>
          <a:xfrm>
            <a:off x="7518400" y="38862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1,369</a:t>
            </a:r>
          </a:p>
        </p:txBody>
      </p:sp>
      <p:sp>
        <p:nvSpPr>
          <p:cNvPr id="118" name="TextBox 119"/>
          <p:cNvSpPr txBox="1"/>
          <p:nvPr/>
        </p:nvSpPr>
        <p:spPr>
          <a:xfrm>
            <a:off x="9423400" y="38862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2,300</a:t>
            </a:r>
          </a:p>
        </p:txBody>
      </p:sp>
      <p:sp>
        <p:nvSpPr>
          <p:cNvPr id="119" name="TextBox 120"/>
          <p:cNvSpPr txBox="1"/>
          <p:nvPr/>
        </p:nvSpPr>
        <p:spPr>
          <a:xfrm>
            <a:off x="11328400" y="3886200"/>
            <a:ext cx="2082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3,285</a:t>
            </a:r>
          </a:p>
        </p:txBody>
      </p:sp>
      <p:sp>
        <p:nvSpPr>
          <p:cNvPr id="122" name="Shape 123"/>
          <p:cNvSpPr/>
          <p:nvPr/>
        </p:nvSpPr>
        <p:spPr>
          <a:xfrm>
            <a:off x="914400" y="4851400"/>
            <a:ext cx="16484600" cy="9652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4"/>
          <p:cNvSpPr/>
          <p:nvPr/>
        </p:nvSpPr>
        <p:spPr>
          <a:xfrm>
            <a:off x="914400" y="5803900"/>
            <a:ext cx="16484600" cy="127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Box 125"/>
          <p:cNvSpPr txBox="1"/>
          <p:nvPr/>
        </p:nvSpPr>
        <p:spPr>
          <a:xfrm>
            <a:off x="2184400" y="4851400"/>
            <a:ext cx="2108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Aires de Campestre</a:t>
            </a:r>
          </a:p>
        </p:txBody>
      </p:sp>
      <p:sp>
        <p:nvSpPr>
          <p:cNvPr id="125" name="TextBox 126"/>
          <p:cNvSpPr txBox="1"/>
          <p:nvPr/>
        </p:nvSpPr>
        <p:spPr>
          <a:xfrm>
            <a:off x="4572000" y="4851400"/>
            <a:ext cx="2743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Poblado penthouse · 489</a:t>
            </a:r>
          </a:p>
        </p:txBody>
      </p:sp>
      <p:sp>
        <p:nvSpPr>
          <p:cNvPr id="126" name="TextBox 127"/>
          <p:cNvSpPr txBox="1"/>
          <p:nvPr/>
        </p:nvSpPr>
        <p:spPr>
          <a:xfrm>
            <a:off x="7518400" y="48514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1,363</a:t>
            </a:r>
          </a:p>
        </p:txBody>
      </p:sp>
      <p:sp>
        <p:nvSpPr>
          <p:cNvPr id="127" name="TextBox 128"/>
          <p:cNvSpPr txBox="1"/>
          <p:nvPr/>
        </p:nvSpPr>
        <p:spPr>
          <a:xfrm>
            <a:off x="9423400" y="48514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2,390</a:t>
            </a:r>
          </a:p>
        </p:txBody>
      </p:sp>
      <p:sp>
        <p:nvSpPr>
          <p:cNvPr id="128" name="TextBox 129"/>
          <p:cNvSpPr txBox="1"/>
          <p:nvPr/>
        </p:nvSpPr>
        <p:spPr>
          <a:xfrm>
            <a:off x="11328400" y="4851400"/>
            <a:ext cx="2082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3,414</a:t>
            </a:r>
          </a:p>
        </p:txBody>
      </p:sp>
      <p:sp>
        <p:nvSpPr>
          <p:cNvPr id="131" name="Shape 132"/>
          <p:cNvSpPr/>
          <p:nvPr/>
        </p:nvSpPr>
        <p:spPr>
          <a:xfrm>
            <a:off x="914400" y="5816600"/>
            <a:ext cx="164846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3"/>
          <p:cNvSpPr/>
          <p:nvPr/>
        </p:nvSpPr>
        <p:spPr>
          <a:xfrm>
            <a:off x="914400" y="6769100"/>
            <a:ext cx="16484600" cy="127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 134"/>
          <p:cNvSpPr txBox="1"/>
          <p:nvPr/>
        </p:nvSpPr>
        <p:spPr>
          <a:xfrm>
            <a:off x="2184400" y="5816600"/>
            <a:ext cx="2108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Fontanar 201</a:t>
            </a:r>
          </a:p>
        </p:txBody>
      </p:sp>
      <p:sp>
        <p:nvSpPr>
          <p:cNvPr id="134" name="TextBox 135"/>
          <p:cNvSpPr txBox="1"/>
          <p:nvPr/>
        </p:nvSpPr>
        <p:spPr>
          <a:xfrm>
            <a:off x="4572000" y="5816600"/>
            <a:ext cx="2743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Poblado penthouse · 389</a:t>
            </a:r>
          </a:p>
        </p:txBody>
      </p:sp>
      <p:sp>
        <p:nvSpPr>
          <p:cNvPr id="135" name="TextBox 136"/>
          <p:cNvSpPr txBox="1"/>
          <p:nvPr/>
        </p:nvSpPr>
        <p:spPr>
          <a:xfrm>
            <a:off x="7518400" y="58166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2,621</a:t>
            </a:r>
          </a:p>
        </p:txBody>
      </p:sp>
      <p:sp>
        <p:nvSpPr>
          <p:cNvPr id="136" name="TextBox 137"/>
          <p:cNvSpPr txBox="1"/>
          <p:nvPr/>
        </p:nvSpPr>
        <p:spPr>
          <a:xfrm>
            <a:off x="9423400" y="58166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3,318</a:t>
            </a:r>
          </a:p>
        </p:txBody>
      </p:sp>
      <p:sp>
        <p:nvSpPr>
          <p:cNvPr id="137" name="TextBox 138"/>
          <p:cNvSpPr txBox="1"/>
          <p:nvPr/>
        </p:nvSpPr>
        <p:spPr>
          <a:xfrm>
            <a:off x="11328400" y="5816600"/>
            <a:ext cx="2082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4,741</a:t>
            </a:r>
          </a:p>
        </p:txBody>
      </p:sp>
      <p:sp>
        <p:nvSpPr>
          <p:cNvPr id="140" name="Shape 141"/>
          <p:cNvSpPr/>
          <p:nvPr/>
        </p:nvSpPr>
        <p:spPr>
          <a:xfrm>
            <a:off x="914400" y="6781800"/>
            <a:ext cx="16484600" cy="9652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42"/>
          <p:cNvSpPr/>
          <p:nvPr/>
        </p:nvSpPr>
        <p:spPr>
          <a:xfrm>
            <a:off x="914400" y="7734300"/>
            <a:ext cx="16484600" cy="127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3"/>
          <p:cNvSpPr txBox="1"/>
          <p:nvPr/>
        </p:nvSpPr>
        <p:spPr>
          <a:xfrm>
            <a:off x="2184400" y="6781800"/>
            <a:ext cx="2108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Casa Monte Sereno</a:t>
            </a:r>
          </a:p>
        </p:txBody>
      </p:sp>
      <p:sp>
        <p:nvSpPr>
          <p:cNvPr id="143" name="TextBox 144"/>
          <p:cNvSpPr txBox="1"/>
          <p:nvPr/>
        </p:nvSpPr>
        <p:spPr>
          <a:xfrm>
            <a:off x="4572000" y="6781800"/>
            <a:ext cx="2743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 house · 420</a:t>
            </a:r>
          </a:p>
        </p:txBody>
      </p:sp>
      <p:sp>
        <p:nvSpPr>
          <p:cNvPr id="144" name="TextBox 145"/>
          <p:cNvSpPr txBox="1"/>
          <p:nvPr/>
        </p:nvSpPr>
        <p:spPr>
          <a:xfrm>
            <a:off x="7518400" y="67818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3,082</a:t>
            </a:r>
          </a:p>
        </p:txBody>
      </p:sp>
      <p:sp>
        <p:nvSpPr>
          <p:cNvPr id="145" name="TextBox 146"/>
          <p:cNvSpPr txBox="1"/>
          <p:nvPr/>
        </p:nvSpPr>
        <p:spPr>
          <a:xfrm>
            <a:off x="9423400" y="67818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3,930</a:t>
            </a:r>
          </a:p>
        </p:txBody>
      </p:sp>
      <p:sp>
        <p:nvSpPr>
          <p:cNvPr id="146" name="TextBox 147"/>
          <p:cNvSpPr txBox="1"/>
          <p:nvPr/>
        </p:nvSpPr>
        <p:spPr>
          <a:xfrm>
            <a:off x="11328400" y="6781800"/>
            <a:ext cx="2082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5,614</a:t>
            </a:r>
          </a:p>
        </p:txBody>
      </p:sp>
      <p:sp>
        <p:nvSpPr>
          <p:cNvPr id="149" name="Shape 150"/>
          <p:cNvSpPr/>
          <p:nvPr/>
        </p:nvSpPr>
        <p:spPr>
          <a:xfrm>
            <a:off x="914400" y="7747000"/>
            <a:ext cx="164846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51"/>
          <p:cNvSpPr/>
          <p:nvPr/>
        </p:nvSpPr>
        <p:spPr>
          <a:xfrm>
            <a:off x="914400" y="8699500"/>
            <a:ext cx="16484600" cy="127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Box 152"/>
          <p:cNvSpPr txBox="1"/>
          <p:nvPr/>
        </p:nvSpPr>
        <p:spPr>
          <a:xfrm>
            <a:off x="2184400" y="7747000"/>
            <a:ext cx="2108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Casa Montana</a:t>
            </a:r>
          </a:p>
        </p:txBody>
      </p:sp>
      <p:sp>
        <p:nvSpPr>
          <p:cNvPr id="152" name="TextBox 153"/>
          <p:cNvSpPr txBox="1"/>
          <p:nvPr/>
        </p:nvSpPr>
        <p:spPr>
          <a:xfrm>
            <a:off x="4572000" y="7747000"/>
            <a:ext cx="27432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 house · 591</a:t>
            </a:r>
          </a:p>
        </p:txBody>
      </p:sp>
      <p:sp>
        <p:nvSpPr>
          <p:cNvPr id="153" name="TextBox 154"/>
          <p:cNvSpPr txBox="1"/>
          <p:nvPr/>
        </p:nvSpPr>
        <p:spPr>
          <a:xfrm>
            <a:off x="7518400" y="77470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1,922</a:t>
            </a:r>
          </a:p>
        </p:txBody>
      </p:sp>
      <p:sp>
        <p:nvSpPr>
          <p:cNvPr id="154" name="TextBox 155"/>
          <p:cNvSpPr txBox="1"/>
          <p:nvPr/>
        </p:nvSpPr>
        <p:spPr>
          <a:xfrm>
            <a:off x="9423400" y="7747000"/>
            <a:ext cx="1701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2,901</a:t>
            </a:r>
          </a:p>
        </p:txBody>
      </p:sp>
      <p:sp>
        <p:nvSpPr>
          <p:cNvPr id="155" name="TextBox 156"/>
          <p:cNvSpPr txBox="1"/>
          <p:nvPr/>
        </p:nvSpPr>
        <p:spPr>
          <a:xfrm>
            <a:off x="11328400" y="7747000"/>
            <a:ext cx="2082800" cy="965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4,144</a:t>
            </a:r>
          </a:p>
        </p:txBody>
      </p:sp>
      <p:sp>
        <p:nvSpPr>
          <p:cNvPr id="3" name="TextBox 143">
            <a:extLst>
              <a:ext uri="{FF2B5EF4-FFF2-40B4-BE49-F238E27FC236}">
                <a16:creationId xmlns:a16="http://schemas.microsoft.com/office/drawing/2014/main" id="{DF74DA2B-BAB5-31A8-C7C2-A39D042359B1}"/>
              </a:ext>
            </a:extLst>
          </p:cNvPr>
          <p:cNvSpPr txBox="1"/>
          <p:nvPr/>
        </p:nvSpPr>
        <p:spPr>
          <a:xfrm>
            <a:off x="13991253" y="5139323"/>
            <a:ext cx="294640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200" b="0" dirty="0">
                <a:solidFill>
                  <a:srgbClr val="2D8C88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4F330E02-B952-EEF0-A2EF-46DC75E29049}"/>
              </a:ext>
            </a:extLst>
          </p:cNvPr>
          <p:cNvSpPr txBox="1"/>
          <p:nvPr/>
        </p:nvSpPr>
        <p:spPr>
          <a:xfrm>
            <a:off x="14049829" y="4174122"/>
            <a:ext cx="294640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200" b="0" dirty="0">
                <a:solidFill>
                  <a:srgbClr val="2D8C88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</a:p>
        </p:txBody>
      </p:sp>
      <p:sp>
        <p:nvSpPr>
          <p:cNvPr id="5" name="TextBox 143">
            <a:extLst>
              <a:ext uri="{FF2B5EF4-FFF2-40B4-BE49-F238E27FC236}">
                <a16:creationId xmlns:a16="http://schemas.microsoft.com/office/drawing/2014/main" id="{B7DF20DC-3BED-5D8A-DA9D-D532E4C63DE4}"/>
              </a:ext>
            </a:extLst>
          </p:cNvPr>
          <p:cNvSpPr txBox="1"/>
          <p:nvPr/>
        </p:nvSpPr>
        <p:spPr>
          <a:xfrm>
            <a:off x="13994363" y="6104523"/>
            <a:ext cx="294640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200" b="0" dirty="0">
                <a:solidFill>
                  <a:srgbClr val="2D8C88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</a:p>
        </p:txBody>
      </p:sp>
      <p:sp>
        <p:nvSpPr>
          <p:cNvPr id="6" name="TextBox 143">
            <a:extLst>
              <a:ext uri="{FF2B5EF4-FFF2-40B4-BE49-F238E27FC236}">
                <a16:creationId xmlns:a16="http://schemas.microsoft.com/office/drawing/2014/main" id="{05E45FA9-77E8-74A4-6BA2-BE891A6DCAA1}"/>
              </a:ext>
            </a:extLst>
          </p:cNvPr>
          <p:cNvSpPr txBox="1"/>
          <p:nvPr/>
        </p:nvSpPr>
        <p:spPr>
          <a:xfrm>
            <a:off x="13991253" y="7069723"/>
            <a:ext cx="294640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200" b="0" dirty="0">
                <a:solidFill>
                  <a:srgbClr val="2D8C88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</a:p>
        </p:txBody>
      </p:sp>
      <p:sp>
        <p:nvSpPr>
          <p:cNvPr id="7" name="TextBox 143">
            <a:extLst>
              <a:ext uri="{FF2B5EF4-FFF2-40B4-BE49-F238E27FC236}">
                <a16:creationId xmlns:a16="http://schemas.microsoft.com/office/drawing/2014/main" id="{D1B3BE33-7490-4406-D3A7-B2B6D61EA41B}"/>
              </a:ext>
            </a:extLst>
          </p:cNvPr>
          <p:cNvSpPr txBox="1"/>
          <p:nvPr/>
        </p:nvSpPr>
        <p:spPr>
          <a:xfrm>
            <a:off x="14058900" y="8034923"/>
            <a:ext cx="294640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200" b="0" dirty="0">
                <a:solidFill>
                  <a:srgbClr val="2D8C88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</a:p>
        </p:txBody>
      </p:sp>
      <p:sp>
        <p:nvSpPr>
          <p:cNvPr id="950" name="StatTile"/>
          <p:cNvSpPr/>
          <p:nvPr/>
        </p:nvSpPr>
        <p:spPr>
          <a:xfrm>
            <a:off x="914400" y="2159000"/>
            <a:ext cx="5207000" cy="6604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Funnel 0"/>
          <p:cNvSpPr txBox="1"/>
          <p:nvPr/>
        </p:nvSpPr>
        <p:spPr>
          <a:xfrm>
            <a:off x="1092200" y="21717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60+</a:t>
            </a:r>
          </a:p>
        </p:txBody>
      </p:sp>
      <p:sp>
        <p:nvSpPr>
          <p:cNvPr id="301" name="Funnel label 0"/>
          <p:cNvSpPr txBox="1"/>
          <p:nvPr/>
        </p:nvSpPr>
        <p:spPr>
          <a:xfrm>
            <a:off x="2692400" y="23622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spc="150" dirty="0">
                <a:solidFill>
                  <a:srgbClr val="B9684F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HOMES WALKED</a:t>
            </a:r>
          </a:p>
        </p:txBody>
      </p:sp>
      <p:sp>
        <p:nvSpPr>
          <p:cNvPr id="951" name="StatTile"/>
          <p:cNvSpPr/>
          <p:nvPr/>
        </p:nvSpPr>
        <p:spPr>
          <a:xfrm>
            <a:off x="6540500" y="2159000"/>
            <a:ext cx="5207000" cy="6604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Funnel 1"/>
          <p:cNvSpPr txBox="1"/>
          <p:nvPr/>
        </p:nvSpPr>
        <p:spPr>
          <a:xfrm>
            <a:off x="6718300" y="21717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03" name="Funnel label 1"/>
          <p:cNvSpPr txBox="1"/>
          <p:nvPr/>
        </p:nvSpPr>
        <p:spPr>
          <a:xfrm>
            <a:off x="8318500" y="23622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spc="150" dirty="0">
                <a:solidFill>
                  <a:srgbClr val="B9684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CLEAR THE CRITERIA</a:t>
            </a:r>
          </a:p>
        </p:txBody>
      </p:sp>
      <p:sp>
        <p:nvSpPr>
          <p:cNvPr id="952" name="StatTile"/>
          <p:cNvSpPr/>
          <p:nvPr/>
        </p:nvSpPr>
        <p:spPr>
          <a:xfrm>
            <a:off x="12166600" y="2159000"/>
            <a:ext cx="5207000" cy="6604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Funnel 2"/>
          <p:cNvSpPr txBox="1"/>
          <p:nvPr/>
        </p:nvSpPr>
        <p:spPr>
          <a:xfrm>
            <a:off x="12344400" y="21717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lang="en-US" sz="3000" dirty="0">
                <a:solidFill>
                  <a:srgbClr val="103D40"/>
                </a:solidFill>
                <a:latin typeface="Georgia"/>
                <a:ea typeface="Georgia"/>
                <a:cs typeface="Georgia"/>
              </a:rPr>
              <a:t>1 + 1</a:t>
            </a:r>
          </a:p>
        </p:txBody>
      </p:sp>
      <p:sp>
        <p:nvSpPr>
          <p:cNvPr id="305" name="Funnel label 2"/>
          <p:cNvSpPr txBox="1"/>
          <p:nvPr/>
        </p:nvSpPr>
        <p:spPr>
          <a:xfrm>
            <a:off x="13944600" y="23622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spc="150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BOUGHT + IN NEGOTIATION</a:t>
            </a:r>
          </a:p>
        </p:txBody>
      </p:sp>
      <p:sp>
        <p:nvSpPr>
          <p:cNvPr id="900" name="Gold Rule"/>
          <p:cNvSpPr/>
          <p:nvPr/>
        </p:nvSpPr>
        <p:spPr>
          <a:xfrm>
            <a:off x="914400" y="3886200"/>
            <a:ext cx="16484800" cy="1905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00" name="Thumb 400"/>
          <p:cNvPicPr>
            <a:picLocks noChangeAspect="1"/>
          </p:cNvPicPr>
          <p:nvPr/>
        </p:nvPicPr>
        <p:blipFill rotWithShape="1">
          <a:blip r:embed="rId2"/>
          <a:srcRect l="15000" r="15000"/>
          <a:stretch>
            <a:fillRect/>
          </a:stretch>
        </p:blipFill>
        <p:spPr>
          <a:xfrm>
            <a:off x="1016000" y="3987800"/>
            <a:ext cx="1066800" cy="762000"/>
          </a:xfrm>
          <a:prstGeom prst="rect">
            <a:avLst/>
          </a:prstGeom>
        </p:spPr>
      </p:pic>
      <p:pic>
        <p:nvPicPr>
          <p:cNvPr id="401" name="Thumb 401"/>
          <p:cNvPicPr>
            <a:picLocks noChangeAspect="1"/>
          </p:cNvPicPr>
          <p:nvPr/>
        </p:nvPicPr>
        <p:blipFill rotWithShape="1">
          <a:blip r:embed="rId3"/>
          <a:srcRect l="15000" r="15000"/>
          <a:stretch>
            <a:fillRect/>
          </a:stretch>
        </p:blipFill>
        <p:spPr>
          <a:xfrm>
            <a:off x="1016000" y="4953000"/>
            <a:ext cx="1066800" cy="762000"/>
          </a:xfrm>
          <a:prstGeom prst="rect">
            <a:avLst/>
          </a:prstGeom>
        </p:spPr>
      </p:pic>
      <p:pic>
        <p:nvPicPr>
          <p:cNvPr id="402" name="Thumb 402"/>
          <p:cNvPicPr>
            <a:picLocks noChangeAspect="1"/>
          </p:cNvPicPr>
          <p:nvPr/>
        </p:nvPicPr>
        <p:blipFill rotWithShape="1">
          <a:blip r:embed="rId4"/>
          <a:srcRect l="15000" r="15000"/>
          <a:stretch>
            <a:fillRect/>
          </a:stretch>
        </p:blipFill>
        <p:spPr>
          <a:xfrm>
            <a:off x="1016000" y="5918200"/>
            <a:ext cx="1066800" cy="762000"/>
          </a:xfrm>
          <a:prstGeom prst="rect">
            <a:avLst/>
          </a:prstGeom>
        </p:spPr>
      </p:pic>
      <p:pic>
        <p:nvPicPr>
          <p:cNvPr id="403" name="Thumb 403"/>
          <p:cNvPicPr>
            <a:picLocks noChangeAspect="1"/>
          </p:cNvPicPr>
          <p:nvPr/>
        </p:nvPicPr>
        <p:blipFill rotWithShape="1">
          <a:blip r:embed="rId5"/>
          <a:srcRect l="15000" r="15000"/>
          <a:stretch>
            <a:fillRect/>
          </a:stretch>
        </p:blipFill>
        <p:spPr>
          <a:xfrm>
            <a:off x="1016000" y="6883400"/>
            <a:ext cx="1066800" cy="762000"/>
          </a:xfrm>
          <a:prstGeom prst="rect">
            <a:avLst/>
          </a:prstGeom>
        </p:spPr>
      </p:pic>
      <p:pic>
        <p:nvPicPr>
          <p:cNvPr id="404" name="Thumb 404"/>
          <p:cNvPicPr>
            <a:picLocks noChangeAspect="1"/>
          </p:cNvPicPr>
          <p:nvPr/>
        </p:nvPicPr>
        <p:blipFill rotWithShape="1">
          <a:blip r:embed="rId6"/>
          <a:srcRect l="15000" r="15000"/>
          <a:stretch>
            <a:fillRect/>
          </a:stretch>
        </p:blipFill>
        <p:spPr>
          <a:xfrm>
            <a:off x="1016000" y="7848600"/>
            <a:ext cx="1066800" cy="762000"/>
          </a:xfrm>
          <a:prstGeom prst="rect">
            <a:avLst/>
          </a:prstGeom>
        </p:spPr>
      </p:pic>
      <p:sp>
        <p:nvSpPr>
          <p:cNvPr id="405" name="Appendix pointer"/>
          <p:cNvSpPr txBox="1"/>
          <p:nvPr/>
        </p:nvSpPr>
        <p:spPr>
          <a:xfrm>
            <a:off x="914400" y="8890000"/>
            <a:ext cx="11430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8A8A88"/>
                </a:solidFill>
                <a:latin typeface="Poppins Light"/>
                <a:cs typeface="Poppins Light"/>
              </a:rPr>
              <a:t>Full investment criteria check per property: appendix, slides 13–17.</a:t>
            </a:r>
          </a:p>
        </p:txBody>
      </p:sp>
    </p:spTree>
    <p:extLst>
      <p:ext uri="{BB962C8B-B14F-4D97-AF65-F5344CB8AC3E}">
        <p14:creationId xmlns:p14="http://schemas.microsoft.com/office/powerpoint/2010/main" val="385255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Band"/>
          <p:cNvSpPr/>
          <p:nvPr/>
        </p:nvSpPr>
        <p:spPr>
          <a:xfrm>
            <a:off x="0" y="2413000"/>
            <a:ext cx="18288000" cy="6604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7669513" y="0"/>
            <a:ext cx="618487" cy="10287000"/>
            <a:chOff x="0" y="0"/>
            <a:chExt cx="618490" cy="1028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8491" cy="10287000"/>
            </a:xfrm>
            <a:custGeom>
              <a:avLst/>
              <a:gdLst/>
              <a:ahLst/>
              <a:cxnLst/>
              <a:rect l="l" t="t" r="r" b="b"/>
              <a:pathLst>
                <a:path w="618491" h="10287000">
                  <a:moveTo>
                    <a:pt x="0" y="10287000"/>
                  </a:moveTo>
                  <a:lnTo>
                    <a:pt x="618491" y="10287000"/>
                  </a:lnTo>
                  <a:lnTo>
                    <a:pt x="6184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81317" y="148657"/>
            <a:ext cx="12264295" cy="149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Management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1881" y="1584346"/>
            <a:ext cx="585623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accountable team, purchase to sale.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4EB890-BCBC-BD1C-DB97-7F4048502BEC}"/>
              </a:ext>
            </a:extLst>
          </p:cNvPr>
          <p:cNvGrpSpPr/>
          <p:nvPr/>
        </p:nvGrpSpPr>
        <p:grpSpPr>
          <a:xfrm>
            <a:off x="3429000" y="3403600"/>
            <a:ext cx="10477500" cy="4635500"/>
            <a:chOff x="3429000" y="2603500"/>
            <a:chExt cx="10477500" cy="46355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39F85E-3C88-4F5B-4419-5C3DAC5C107A}"/>
                </a:ext>
              </a:extLst>
            </p:cNvPr>
            <p:cNvGrpSpPr/>
            <p:nvPr/>
          </p:nvGrpSpPr>
          <p:grpSpPr>
            <a:xfrm>
              <a:off x="7429500" y="2603500"/>
              <a:ext cx="2476500" cy="4635500"/>
              <a:chOff x="762000" y="2603500"/>
              <a:chExt cx="2476500" cy="4635500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1236FA93-D4D5-0E4C-A56D-90825DE4E24E}"/>
                  </a:ext>
                </a:extLst>
              </p:cNvPr>
              <p:cNvSpPr/>
              <p:nvPr/>
            </p:nvSpPr>
            <p:spPr>
              <a:xfrm>
                <a:off x="762000" y="2603500"/>
                <a:ext cx="2476500" cy="4635500"/>
              </a:xfrm>
              <a:prstGeom prst="round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E0E0E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C9D0805-1AB1-C543-9856-30F901EE83A0}"/>
                  </a:ext>
                </a:extLst>
              </p:cNvPr>
              <p:cNvSpPr/>
              <p:nvPr/>
            </p:nvSpPr>
            <p:spPr>
              <a:xfrm>
                <a:off x="1428750" y="3048000"/>
                <a:ext cx="1143000" cy="1143000"/>
              </a:xfrm>
              <a:prstGeom prst="ellipse">
                <a:avLst/>
              </a:prstGeom>
              <a:blipFill>
                <a:blip r:embed="rId2"/>
                <a:stretch/>
              </a:blip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DA22060A-2186-1F4E-B4A8-2BBE45B80620}"/>
                  </a:ext>
                </a:extLst>
              </p:cNvPr>
              <p:cNvSpPr/>
              <p:nvPr/>
            </p:nvSpPr>
            <p:spPr>
              <a:xfrm>
                <a:off x="1492250" y="2705100"/>
                <a:ext cx="1016000" cy="203200"/>
              </a:xfrm>
              <a:prstGeom prst="roundRect">
                <a:avLst/>
              </a:prstGeom>
              <a:solidFill>
                <a:srgbClr val="103D40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B79C58-C79A-AD4C-9ECF-9AA4A790CA93}"/>
                  </a:ext>
                </a:extLst>
              </p:cNvPr>
              <p:cNvSpPr txBox="1"/>
              <p:nvPr/>
            </p:nvSpPr>
            <p:spPr>
              <a:xfrm>
                <a:off x="1492250" y="2705100"/>
                <a:ext cx="1016000" cy="2032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r>
                  <a:rPr lang="en-US" sz="700" b="0">
                    <a:solidFill>
                      <a:srgbClr val="FFFFFF"/>
                    </a:solidFill>
                  </a:rPr>
                  <a:t>KIT CAPITAL</a:t>
                </a:r>
                <a:endParaRPr lang="en-CO" sz="700" b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1F70608-4264-D147-9D0D-336A5A8B9C65}"/>
                  </a:ext>
                </a:extLst>
              </p:cNvPr>
              <p:cNvSpPr txBox="1"/>
              <p:nvPr/>
            </p:nvSpPr>
            <p:spPr>
              <a:xfrm>
                <a:off x="952500" y="4381500"/>
                <a:ext cx="20955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600" b="0">
                    <a:solidFill>
                      <a:srgbClr val="273238"/>
                    </a:solidFill>
                  </a:rPr>
                  <a:t>K. Dov Isaza Tuzman</a:t>
                </a:r>
                <a:endParaRPr lang="en-CO" sz="1600" b="0">
                  <a:solidFill>
                    <a:srgbClr val="273238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F6C6AD0-1EB6-3448-A1EA-D998CF5A72C6}"/>
                  </a:ext>
                </a:extLst>
              </p:cNvPr>
              <p:cNvSpPr/>
              <p:nvPr/>
            </p:nvSpPr>
            <p:spPr>
              <a:xfrm>
                <a:off x="952500" y="4953000"/>
                <a:ext cx="381000" cy="25400"/>
              </a:xfrm>
              <a:prstGeom prst="rect">
                <a:avLst/>
              </a:prstGeom>
              <a:solidFill>
                <a:srgbClr val="B9684F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2775D8-B19C-9D4A-9C44-599A12ED5CAE}"/>
                  </a:ext>
                </a:extLst>
              </p:cNvPr>
              <p:cNvSpPr txBox="1"/>
              <p:nvPr/>
            </p:nvSpPr>
            <p:spPr>
              <a:xfrm>
                <a:off x="952500" y="5080000"/>
                <a:ext cx="2095500" cy="27699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200" b="0">
                    <a:solidFill>
                      <a:srgbClr val="103D40"/>
                    </a:solidFill>
                  </a:rPr>
                  <a:t>MANAGING DIRECTOR</a:t>
                </a:r>
                <a:endParaRPr lang="en-CO" sz="1200" b="0">
                  <a:solidFill>
                    <a:srgbClr val="103D40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627CB46-4ED3-9045-A5CE-CE0F8084CA1F}"/>
                  </a:ext>
                </a:extLst>
              </p:cNvPr>
              <p:cNvSpPr txBox="1"/>
              <p:nvPr/>
            </p:nvSpPr>
            <p:spPr>
              <a:xfrm>
                <a:off x="952500" y="5422900"/>
                <a:ext cx="2095500" cy="12970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lnSpc>
                    <a:spcPts val="1900"/>
                  </a:lnSpc>
                </a:pPr>
                <a:r>
                  <a:rPr lang="en-US" sz="1400">
                    <a:solidFill>
                      <a:srgbClr val="273238"/>
                    </a:solidFill>
                  </a:rPr>
                  <a:t>Founder of KIT Capital. Two NASDAQ/TSE listings and several private exits. Ex-Goldman Sachs; Harvard BA and MA.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0777661-2CF3-9440-9056-0EF7E56657AE}"/>
                </a:ext>
              </a:extLst>
            </p:cNvPr>
            <p:cNvGrpSpPr/>
            <p:nvPr/>
          </p:nvGrpSpPr>
          <p:grpSpPr>
            <a:xfrm>
              <a:off x="3429000" y="2603500"/>
              <a:ext cx="2476500" cy="4635500"/>
              <a:chOff x="3429000" y="2603500"/>
              <a:chExt cx="2476500" cy="4635500"/>
            </a:xfrm>
          </p:grpSpPr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B3A47CA3-D773-284F-BB51-1521E9D2C2D3}"/>
                  </a:ext>
                </a:extLst>
              </p:cNvPr>
              <p:cNvSpPr/>
              <p:nvPr/>
            </p:nvSpPr>
            <p:spPr>
              <a:xfrm>
                <a:off x="3429000" y="2603500"/>
                <a:ext cx="2476500" cy="4635500"/>
              </a:xfrm>
              <a:prstGeom prst="round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E0E0E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FC9D6E5-613E-874B-9CD8-ECDA0534A20D}"/>
                  </a:ext>
                </a:extLst>
              </p:cNvPr>
              <p:cNvSpPr/>
              <p:nvPr/>
            </p:nvSpPr>
            <p:spPr>
              <a:xfrm>
                <a:off x="4095750" y="3048000"/>
                <a:ext cx="1143000" cy="1143000"/>
              </a:xfrm>
              <a:prstGeom prst="ellipse">
                <a:avLst/>
              </a:prstGeom>
              <a:blipFill>
                <a:blip r:embed="rId3"/>
                <a:stretch/>
              </a:blip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08C76D16-B226-6C48-8E5F-8DA4A3395C9A}"/>
                  </a:ext>
                </a:extLst>
              </p:cNvPr>
              <p:cNvSpPr/>
              <p:nvPr/>
            </p:nvSpPr>
            <p:spPr>
              <a:xfrm>
                <a:off x="4159250" y="2705100"/>
                <a:ext cx="1016000" cy="203200"/>
              </a:xfrm>
              <a:prstGeom prst="roundRect">
                <a:avLst/>
              </a:prstGeom>
              <a:solidFill>
                <a:srgbClr val="103D40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737B75-3DE0-6247-87BB-408D834A9F63}"/>
                  </a:ext>
                </a:extLst>
              </p:cNvPr>
              <p:cNvSpPr txBox="1"/>
              <p:nvPr/>
            </p:nvSpPr>
            <p:spPr>
              <a:xfrm>
                <a:off x="4159250" y="2705100"/>
                <a:ext cx="1016000" cy="2032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r>
                  <a:rPr lang="en-US" sz="700" b="0">
                    <a:solidFill>
                      <a:srgbClr val="FFFFFF"/>
                    </a:solidFill>
                  </a:rPr>
                  <a:t>KIT CAPITAL</a:t>
                </a:r>
                <a:endParaRPr lang="en-CO" sz="700" b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8E123D0-CFEF-0147-A523-4723EC6A44F7}"/>
                  </a:ext>
                </a:extLst>
              </p:cNvPr>
              <p:cNvSpPr txBox="1"/>
              <p:nvPr/>
            </p:nvSpPr>
            <p:spPr>
              <a:xfrm>
                <a:off x="3619500" y="4381500"/>
                <a:ext cx="20955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600" b="0">
                    <a:solidFill>
                      <a:srgbClr val="273238"/>
                    </a:solidFill>
                  </a:rPr>
                  <a:t>Ricardo Cidale</a:t>
                </a:r>
                <a:endParaRPr lang="en-CO" sz="1600" b="0">
                  <a:solidFill>
                    <a:srgbClr val="273238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04DC36F-7A16-EF45-97A3-2F5C9372D59C}"/>
                  </a:ext>
                </a:extLst>
              </p:cNvPr>
              <p:cNvSpPr/>
              <p:nvPr/>
            </p:nvSpPr>
            <p:spPr>
              <a:xfrm>
                <a:off x="3619500" y="4953000"/>
                <a:ext cx="381000" cy="25400"/>
              </a:xfrm>
              <a:prstGeom prst="rect">
                <a:avLst/>
              </a:prstGeom>
              <a:solidFill>
                <a:srgbClr val="B9684F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8FA2DDA-5CA4-104F-946B-6BEE567FC17F}"/>
                  </a:ext>
                </a:extLst>
              </p:cNvPr>
              <p:cNvSpPr txBox="1"/>
              <p:nvPr/>
            </p:nvSpPr>
            <p:spPr>
              <a:xfrm>
                <a:off x="3619500" y="5080000"/>
                <a:ext cx="2095500" cy="27699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200" b="0">
                    <a:solidFill>
                      <a:srgbClr val="103D40"/>
                    </a:solidFill>
                  </a:rPr>
                  <a:t>INVESTMENT PARTNER</a:t>
                </a:r>
                <a:endParaRPr lang="en-CO" sz="1200" b="0">
                  <a:solidFill>
                    <a:srgbClr val="103D4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049AF96-96FC-A84A-9B71-F19496819781}"/>
                  </a:ext>
                </a:extLst>
              </p:cNvPr>
              <p:cNvSpPr txBox="1"/>
              <p:nvPr/>
            </p:nvSpPr>
            <p:spPr>
              <a:xfrm>
                <a:off x="3619500" y="5422900"/>
                <a:ext cx="2095500" cy="12970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lnSpc>
                    <a:spcPts val="1900"/>
                  </a:lnSpc>
                </a:pPr>
                <a:r>
                  <a:rPr lang="en-US" sz="1400">
                    <a:solidFill>
                      <a:srgbClr val="273238"/>
                    </a:solidFill>
                  </a:rPr>
                  <a:t>30 years operating and restructuring businesses — HP, Dell, RealNetworks. Led M&amp;A on $1.5B of transactions.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BFDAC1F-DEE4-9337-B8EA-659029DDBFFD}"/>
                </a:ext>
              </a:extLst>
            </p:cNvPr>
            <p:cNvGrpSpPr/>
            <p:nvPr/>
          </p:nvGrpSpPr>
          <p:grpSpPr>
            <a:xfrm>
              <a:off x="11430000" y="2603500"/>
              <a:ext cx="2476500" cy="4635500"/>
              <a:chOff x="11430000" y="2603500"/>
              <a:chExt cx="2476500" cy="4635500"/>
            </a:xfrm>
          </p:grpSpPr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5450FF51-18DD-C24E-A985-4B3370372DEF}"/>
                  </a:ext>
                </a:extLst>
              </p:cNvPr>
              <p:cNvSpPr/>
              <p:nvPr/>
            </p:nvSpPr>
            <p:spPr>
              <a:xfrm>
                <a:off x="11430000" y="2603500"/>
                <a:ext cx="2476500" cy="4635500"/>
              </a:xfrm>
              <a:prstGeom prst="round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E0E0E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10CEEEF-63C4-AF46-8630-67A854129834}"/>
                  </a:ext>
                </a:extLst>
              </p:cNvPr>
              <p:cNvSpPr/>
              <p:nvPr/>
            </p:nvSpPr>
            <p:spPr>
              <a:xfrm>
                <a:off x="12096750" y="3048000"/>
                <a:ext cx="1143000" cy="1143000"/>
              </a:xfrm>
              <a:prstGeom prst="ellipse">
                <a:avLst/>
              </a:prstGeom>
              <a:blipFill>
                <a:blip r:embed="rId4"/>
                <a:stretch/>
              </a:blip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C0578AC0-88F4-3045-8BB9-A65BDDAEDBAB}"/>
                  </a:ext>
                </a:extLst>
              </p:cNvPr>
              <p:cNvSpPr/>
              <p:nvPr/>
            </p:nvSpPr>
            <p:spPr>
              <a:xfrm>
                <a:off x="12160250" y="2705100"/>
                <a:ext cx="1016000" cy="203200"/>
              </a:xfrm>
              <a:prstGeom prst="roundRect">
                <a:avLst/>
              </a:prstGeom>
              <a:solidFill>
                <a:srgbClr val="103D40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F6C77C5-35D5-944E-A3E4-6B78FECA4895}"/>
                  </a:ext>
                </a:extLst>
              </p:cNvPr>
              <p:cNvSpPr txBox="1"/>
              <p:nvPr/>
            </p:nvSpPr>
            <p:spPr>
              <a:xfrm>
                <a:off x="12160250" y="2705100"/>
                <a:ext cx="1016000" cy="2032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r>
                  <a:rPr lang="en-US" sz="700" b="0">
                    <a:solidFill>
                      <a:srgbClr val="FFFFFF"/>
                    </a:solidFill>
                  </a:rPr>
                  <a:t>KIT CAPITAL</a:t>
                </a:r>
                <a:endParaRPr lang="en-CO" sz="700" b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79557F-9277-B745-BBFB-009C80350BDB}"/>
                  </a:ext>
                </a:extLst>
              </p:cNvPr>
              <p:cNvSpPr txBox="1"/>
              <p:nvPr/>
            </p:nvSpPr>
            <p:spPr>
              <a:xfrm>
                <a:off x="11620500" y="4381500"/>
                <a:ext cx="20955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600" b="0">
                    <a:solidFill>
                      <a:srgbClr val="273238"/>
                    </a:solidFill>
                  </a:rPr>
                  <a:t>Adriana Suárez</a:t>
                </a:r>
                <a:endParaRPr lang="en-CO" sz="1600" b="0">
                  <a:solidFill>
                    <a:srgbClr val="273238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8530764-1507-254B-ACA1-504DDCBEB04F}"/>
                  </a:ext>
                </a:extLst>
              </p:cNvPr>
              <p:cNvSpPr/>
              <p:nvPr/>
            </p:nvSpPr>
            <p:spPr>
              <a:xfrm>
                <a:off x="11620500" y="4953000"/>
                <a:ext cx="381000" cy="25400"/>
              </a:xfrm>
              <a:prstGeom prst="rect">
                <a:avLst/>
              </a:prstGeom>
              <a:solidFill>
                <a:srgbClr val="B9684F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endParaRPr lang="en-CO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523FC4-A4B6-5742-B322-3FB2BF6FB69D}"/>
                  </a:ext>
                </a:extLst>
              </p:cNvPr>
              <p:cNvSpPr txBox="1"/>
              <p:nvPr/>
            </p:nvSpPr>
            <p:spPr>
              <a:xfrm>
                <a:off x="11620500" y="5080000"/>
                <a:ext cx="2095500" cy="27699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-US" sz="1200" b="0">
                    <a:solidFill>
                      <a:srgbClr val="103D40"/>
                    </a:solidFill>
                  </a:rPr>
                  <a:t>BUSINESS DEVELOPMENT</a:t>
                </a:r>
                <a:endParaRPr lang="en-CO" sz="1200" b="0">
                  <a:solidFill>
                    <a:srgbClr val="103D40"/>
                  </a:solidFill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71D7A60-FE6F-AB41-A1EC-E10A51DEB46F}"/>
                  </a:ext>
                </a:extLst>
              </p:cNvPr>
              <p:cNvSpPr txBox="1"/>
              <p:nvPr/>
            </p:nvSpPr>
            <p:spPr>
              <a:xfrm>
                <a:off x="11620500" y="5422900"/>
                <a:ext cx="2095500" cy="12970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lnSpc>
                    <a:spcPts val="1900"/>
                  </a:lnSpc>
                </a:pPr>
                <a:r>
                  <a:rPr lang="en-US" sz="1400">
                    <a:solidFill>
                      <a:srgbClr val="273238"/>
                    </a:solidFill>
                  </a:rPr>
                  <a:t>Luxury tourism and hospitality. Has led hotels and high-profile events, focused on guest experience.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221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Band"/>
          <p:cNvSpPr/>
          <p:nvPr/>
        </p:nvSpPr>
        <p:spPr>
          <a:xfrm>
            <a:off x="0" y="2413000"/>
            <a:ext cx="18288000" cy="6604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101"/>
          <p:cNvSpPr/>
          <p:nvPr/>
        </p:nvSpPr>
        <p:spPr>
          <a:xfrm>
            <a:off x="17665700" y="0"/>
            <a:ext cx="622300" cy="10287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2"/>
          <p:cNvSpPr txBox="1"/>
          <p:nvPr/>
        </p:nvSpPr>
        <p:spPr>
          <a:xfrm>
            <a:off x="774700" y="152400"/>
            <a:ext cx="16510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Specialists</a:t>
            </a:r>
          </a:p>
        </p:txBody>
      </p:sp>
      <p:sp>
        <p:nvSpPr>
          <p:cNvPr id="102" name="TextBox 103"/>
          <p:cNvSpPr txBox="1"/>
          <p:nvPr/>
        </p:nvSpPr>
        <p:spPr>
          <a:xfrm>
            <a:off x="800100" y="1778000"/>
            <a:ext cx="158750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2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Local legal, accounting and works oversight. Each removes a risk a foreign buyer takes alone.</a:t>
            </a:r>
          </a:p>
        </p:txBody>
      </p:sp>
      <p:sp>
        <p:nvSpPr>
          <p:cNvPr id="941" name="Card"/>
          <p:cNvSpPr/>
          <p:nvPr/>
        </p:nvSpPr>
        <p:spPr>
          <a:xfrm>
            <a:off x="996950" y="2870200"/>
            <a:ext cx="36322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2" name="Tag"/>
          <p:cNvSpPr/>
          <p:nvPr/>
        </p:nvSpPr>
        <p:spPr>
          <a:xfrm>
            <a:off x="2178050" y="2971800"/>
            <a:ext cx="1270000" cy="2032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700" spc="100" dirty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43" name="Medal"/>
          <p:cNvSpPr/>
          <p:nvPr/>
        </p:nvSpPr>
        <p:spPr>
          <a:xfrm>
            <a:off x="2241550" y="3327400"/>
            <a:ext cx="1143000" cy="1143000"/>
          </a:xfrm>
          <a:prstGeom prst="ellipse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4" name="Name"/>
          <p:cNvSpPr txBox="1"/>
          <p:nvPr/>
        </p:nvSpPr>
        <p:spPr>
          <a:xfrm>
            <a:off x="1225550" y="4648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</a:rPr>
              <a:t>Marcela Vélez &amp; María Antonia Uribe</a:t>
            </a:r>
          </a:p>
        </p:txBody>
      </p:sp>
      <p:sp>
        <p:nvSpPr>
          <p:cNvPr id="945" name="Rule"/>
          <p:cNvSpPr/>
          <p:nvPr/>
        </p:nvSpPr>
        <p:spPr>
          <a:xfrm>
            <a:off x="1225550" y="5283200"/>
            <a:ext cx="508000" cy="1905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6" name="Role"/>
          <p:cNvSpPr txBox="1"/>
          <p:nvPr/>
        </p:nvSpPr>
        <p:spPr>
          <a:xfrm>
            <a:off x="1225550" y="54102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spc="100" dirty="0">
                <a:solidFill>
                  <a:srgbClr val="103D40"/>
                </a:solidFill>
              </a:rPr>
              <a:t>DESIGN &amp; WORKS</a:t>
            </a:r>
          </a:p>
        </p:txBody>
      </p:sp>
      <p:sp>
        <p:nvSpPr>
          <p:cNvPr id="947" name="Body"/>
          <p:cNvSpPr txBox="1"/>
          <p:nvPr/>
        </p:nvSpPr>
        <p:spPr>
          <a:xfrm>
            <a:off x="1225550" y="57404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273238"/>
                </a:solidFill>
              </a:rPr>
              <a:t>One design standard across all five homes; budgets, specs and finish control.</a:t>
            </a:r>
          </a:p>
        </p:txBody>
      </p:sp>
      <p:sp>
        <p:nvSpPr>
          <p:cNvPr id="948" name="RiskLbl"/>
          <p:cNvSpPr txBox="1"/>
          <p:nvPr/>
        </p:nvSpPr>
        <p:spPr>
          <a:xfrm>
            <a:off x="1225550" y="7315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spc="150" dirty="0">
                <a:solidFill>
                  <a:srgbClr val="B9684F"/>
                </a:solidFill>
              </a:rPr>
              <a:t>RISK REMOVED</a:t>
            </a:r>
          </a:p>
        </p:txBody>
      </p:sp>
      <p:sp>
        <p:nvSpPr>
          <p:cNvPr id="949" name="Risk"/>
          <p:cNvSpPr txBox="1"/>
          <p:nvPr/>
        </p:nvSpPr>
        <p:spPr>
          <a:xfrm>
            <a:off x="1225550" y="75692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103D40"/>
                </a:solidFill>
                <a:latin typeface="Georgia"/>
                <a:cs typeface="Georgia"/>
              </a:rPr>
              <a:t>Inconsistent finishes, budget creep</a:t>
            </a:r>
          </a:p>
        </p:txBody>
      </p:sp>
      <p:sp>
        <p:nvSpPr>
          <p:cNvPr id="950" name="Card"/>
          <p:cNvSpPr/>
          <p:nvPr/>
        </p:nvSpPr>
        <p:spPr>
          <a:xfrm>
            <a:off x="5010150" y="2870200"/>
            <a:ext cx="36322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1" name="Tag"/>
          <p:cNvSpPr/>
          <p:nvPr/>
        </p:nvSpPr>
        <p:spPr>
          <a:xfrm>
            <a:off x="6191250" y="2971800"/>
            <a:ext cx="1270000" cy="2032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700" spc="100" dirty="0">
                <a:solidFill>
                  <a:srgbClr val="FFFFFF"/>
                </a:solidFill>
              </a:rPr>
              <a:t>INTERVENTORÍA</a:t>
            </a:r>
          </a:p>
        </p:txBody>
      </p:sp>
      <p:sp>
        <p:nvSpPr>
          <p:cNvPr id="952" name="Medal"/>
          <p:cNvSpPr/>
          <p:nvPr/>
        </p:nvSpPr>
        <p:spPr>
          <a:xfrm>
            <a:off x="6254750" y="3327400"/>
            <a:ext cx="1143000" cy="1143000"/>
          </a:xfrm>
          <a:prstGeom prst="ellipse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3" name="Name"/>
          <p:cNvSpPr txBox="1"/>
          <p:nvPr/>
        </p:nvSpPr>
        <p:spPr>
          <a:xfrm>
            <a:off x="5238750" y="4648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</a:rPr>
              <a:t>John Mario Piedrahita</a:t>
            </a:r>
          </a:p>
        </p:txBody>
      </p:sp>
      <p:sp>
        <p:nvSpPr>
          <p:cNvPr id="954" name="Rule"/>
          <p:cNvSpPr/>
          <p:nvPr/>
        </p:nvSpPr>
        <p:spPr>
          <a:xfrm>
            <a:off x="5238750" y="5283200"/>
            <a:ext cx="508000" cy="1905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5" name="Role"/>
          <p:cNvSpPr txBox="1"/>
          <p:nvPr/>
        </p:nvSpPr>
        <p:spPr>
          <a:xfrm>
            <a:off x="5238750" y="54102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spc="100" dirty="0">
                <a:solidFill>
                  <a:srgbClr val="103D40"/>
                </a:solidFill>
              </a:rPr>
              <a:t>WORKS OVERSIGHT</a:t>
            </a:r>
          </a:p>
        </p:txBody>
      </p:sp>
      <p:sp>
        <p:nvSpPr>
          <p:cNvPr id="956" name="Body"/>
          <p:cNvSpPr txBox="1"/>
          <p:nvPr/>
        </p:nvSpPr>
        <p:spPr>
          <a:xfrm>
            <a:off x="5238750" y="57404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273238"/>
                </a:solidFill>
              </a:rPr>
              <a:t>Independent sign-off on schedule, cost and quality before each payment.</a:t>
            </a:r>
          </a:p>
        </p:txBody>
      </p:sp>
      <p:sp>
        <p:nvSpPr>
          <p:cNvPr id="957" name="RiskLbl"/>
          <p:cNvSpPr txBox="1"/>
          <p:nvPr/>
        </p:nvSpPr>
        <p:spPr>
          <a:xfrm>
            <a:off x="5238750" y="7315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spc="150" dirty="0">
                <a:solidFill>
                  <a:srgbClr val="B9684F"/>
                </a:solidFill>
              </a:rPr>
              <a:t>RISK REMOVED</a:t>
            </a:r>
          </a:p>
        </p:txBody>
      </p:sp>
      <p:sp>
        <p:nvSpPr>
          <p:cNvPr id="958" name="Risk"/>
          <p:cNvSpPr txBox="1"/>
          <p:nvPr/>
        </p:nvSpPr>
        <p:spPr>
          <a:xfrm>
            <a:off x="5238750" y="75692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103D40"/>
                </a:solidFill>
                <a:latin typeface="Georgia"/>
                <a:cs typeface="Georgia"/>
              </a:rPr>
              <a:t>Paying for work never done</a:t>
            </a:r>
          </a:p>
        </p:txBody>
      </p:sp>
      <p:sp>
        <p:nvSpPr>
          <p:cNvPr id="959" name="Card"/>
          <p:cNvSpPr/>
          <p:nvPr/>
        </p:nvSpPr>
        <p:spPr>
          <a:xfrm>
            <a:off x="9023350" y="2870200"/>
            <a:ext cx="36322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0" name="Tag"/>
          <p:cNvSpPr/>
          <p:nvPr/>
        </p:nvSpPr>
        <p:spPr>
          <a:xfrm>
            <a:off x="10204450" y="2971800"/>
            <a:ext cx="1270000" cy="2032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700" spc="100" dirty="0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961" name="Medal"/>
          <p:cNvSpPr/>
          <p:nvPr/>
        </p:nvSpPr>
        <p:spPr>
          <a:xfrm>
            <a:off x="10267950" y="3327400"/>
            <a:ext cx="1143000" cy="1143000"/>
          </a:xfrm>
          <a:prstGeom prst="ellipse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2" name="Name"/>
          <p:cNvSpPr txBox="1"/>
          <p:nvPr/>
        </p:nvSpPr>
        <p:spPr>
          <a:xfrm>
            <a:off x="9251950" y="4648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</a:rPr>
              <a:t>Juan Carlos Pérez</a:t>
            </a:r>
          </a:p>
        </p:txBody>
      </p:sp>
      <p:sp>
        <p:nvSpPr>
          <p:cNvPr id="963" name="Rule"/>
          <p:cNvSpPr/>
          <p:nvPr/>
        </p:nvSpPr>
        <p:spPr>
          <a:xfrm>
            <a:off x="9251950" y="5283200"/>
            <a:ext cx="508000" cy="1905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4" name="Role"/>
          <p:cNvSpPr txBox="1"/>
          <p:nvPr/>
        </p:nvSpPr>
        <p:spPr>
          <a:xfrm>
            <a:off x="9251950" y="54102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spc="100" dirty="0">
                <a:solidFill>
                  <a:srgbClr val="103D40"/>
                </a:solidFill>
              </a:rPr>
              <a:t>TITLE &amp; CLOSING</a:t>
            </a:r>
          </a:p>
        </p:txBody>
      </p:sp>
      <p:sp>
        <p:nvSpPr>
          <p:cNvPr id="965" name="Body"/>
          <p:cNvSpPr txBox="1"/>
          <p:nvPr/>
        </p:nvSpPr>
        <p:spPr>
          <a:xfrm>
            <a:off x="9251950" y="57404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273238"/>
                </a:solidFill>
              </a:rPr>
              <a:t>Title diligence, compraventa and the Colombian-side structure that protects a foreign investor.</a:t>
            </a:r>
          </a:p>
        </p:txBody>
      </p:sp>
      <p:sp>
        <p:nvSpPr>
          <p:cNvPr id="966" name="RiskLbl"/>
          <p:cNvSpPr txBox="1"/>
          <p:nvPr/>
        </p:nvSpPr>
        <p:spPr>
          <a:xfrm>
            <a:off x="9251950" y="7315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spc="150" dirty="0">
                <a:solidFill>
                  <a:srgbClr val="B9684F"/>
                </a:solidFill>
              </a:rPr>
              <a:t>RISK REMOVED</a:t>
            </a:r>
          </a:p>
        </p:txBody>
      </p:sp>
      <p:sp>
        <p:nvSpPr>
          <p:cNvPr id="967" name="Risk"/>
          <p:cNvSpPr txBox="1"/>
          <p:nvPr/>
        </p:nvSpPr>
        <p:spPr>
          <a:xfrm>
            <a:off x="9251950" y="75692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103D40"/>
                </a:solidFill>
                <a:latin typeface="Georgia"/>
                <a:cs typeface="Georgia"/>
              </a:rPr>
              <a:t>Title defects, one-sided contracts</a:t>
            </a:r>
          </a:p>
        </p:txBody>
      </p:sp>
      <p:sp>
        <p:nvSpPr>
          <p:cNvPr id="968" name="Card"/>
          <p:cNvSpPr/>
          <p:nvPr/>
        </p:nvSpPr>
        <p:spPr>
          <a:xfrm>
            <a:off x="13036550" y="2870200"/>
            <a:ext cx="36322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9" name="Tag"/>
          <p:cNvSpPr/>
          <p:nvPr/>
        </p:nvSpPr>
        <p:spPr>
          <a:xfrm>
            <a:off x="14217650" y="2971800"/>
            <a:ext cx="1270000" cy="2032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700" spc="100" dirty="0">
                <a:solidFill>
                  <a:srgbClr val="FFFFFF"/>
                </a:solidFill>
              </a:rPr>
              <a:t>ACCOUNTING &amp; TAX</a:t>
            </a:r>
          </a:p>
        </p:txBody>
      </p:sp>
      <p:sp>
        <p:nvSpPr>
          <p:cNvPr id="970" name="Medal"/>
          <p:cNvSpPr/>
          <p:nvPr/>
        </p:nvSpPr>
        <p:spPr>
          <a:xfrm>
            <a:off x="14281150" y="3327400"/>
            <a:ext cx="1143000" cy="1143000"/>
          </a:xfrm>
          <a:prstGeom prst="ellipse">
            <a:avLst/>
          </a:prstGeom>
          <a:solidFill>
            <a:srgbClr val="CFE8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1" name="Name"/>
          <p:cNvSpPr txBox="1"/>
          <p:nvPr/>
        </p:nvSpPr>
        <p:spPr>
          <a:xfrm>
            <a:off x="13265150" y="4648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273238"/>
                </a:solidFill>
              </a:rPr>
              <a:t>Jorge Valiente</a:t>
            </a:r>
          </a:p>
        </p:txBody>
      </p:sp>
      <p:sp>
        <p:nvSpPr>
          <p:cNvPr id="972" name="Rule"/>
          <p:cNvSpPr/>
          <p:nvPr/>
        </p:nvSpPr>
        <p:spPr>
          <a:xfrm>
            <a:off x="13265150" y="5283200"/>
            <a:ext cx="508000" cy="1905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3" name="Role"/>
          <p:cNvSpPr txBox="1"/>
          <p:nvPr/>
        </p:nvSpPr>
        <p:spPr>
          <a:xfrm>
            <a:off x="13265150" y="54102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spc="100" dirty="0">
                <a:solidFill>
                  <a:srgbClr val="103D40"/>
                </a:solidFill>
              </a:rPr>
              <a:t>BOOKS &amp; GAINS TAX</a:t>
            </a:r>
          </a:p>
        </p:txBody>
      </p:sp>
      <p:sp>
        <p:nvSpPr>
          <p:cNvPr id="974" name="Body"/>
          <p:cNvSpPr txBox="1"/>
          <p:nvPr/>
        </p:nvSpPr>
        <p:spPr>
          <a:xfrm>
            <a:off x="13265150" y="57404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273238"/>
                </a:solidFill>
              </a:rPr>
              <a:t>Colombian books, filings and the 15% gains tax modelled on every exit.</a:t>
            </a:r>
          </a:p>
        </p:txBody>
      </p:sp>
      <p:sp>
        <p:nvSpPr>
          <p:cNvPr id="975" name="RiskLbl"/>
          <p:cNvSpPr txBox="1"/>
          <p:nvPr/>
        </p:nvSpPr>
        <p:spPr>
          <a:xfrm>
            <a:off x="13265150" y="7315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spc="150" dirty="0">
                <a:solidFill>
                  <a:srgbClr val="B9684F"/>
                </a:solidFill>
              </a:rPr>
              <a:t>RISK REMOVED</a:t>
            </a:r>
          </a:p>
        </p:txBody>
      </p:sp>
      <p:sp>
        <p:nvSpPr>
          <p:cNvPr id="976" name="Risk"/>
          <p:cNvSpPr txBox="1"/>
          <p:nvPr/>
        </p:nvSpPr>
        <p:spPr>
          <a:xfrm>
            <a:off x="13265150" y="75692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103D40"/>
                </a:solidFill>
                <a:latin typeface="Georgia"/>
                <a:cs typeface="Georgia"/>
              </a:rPr>
              <a:t>Tax surprises at exit</a:t>
            </a:r>
          </a:p>
        </p:txBody>
      </p:sp>
      <p:sp>
        <p:nvSpPr>
          <p:cNvPr id="977" name="BL"/>
          <p:cNvSpPr txBox="1"/>
          <p:nvPr/>
        </p:nvSpPr>
        <p:spPr>
          <a:xfrm>
            <a:off x="914400" y="9194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spc="200" dirty="0">
                <a:solidFill>
                  <a:srgbClr val="B9684F"/>
                </a:solidFill>
              </a:rPr>
              <a:t>BOTTOM LINE</a:t>
            </a:r>
          </a:p>
        </p:txBody>
      </p:sp>
      <p:sp>
        <p:nvSpPr>
          <p:cNvPr id="978" name="Closer"/>
          <p:cNvSpPr txBox="1"/>
          <p:nvPr/>
        </p:nvSpPr>
        <p:spPr>
          <a:xfrm>
            <a:off x="2540000" y="9118600"/>
            <a:ext cx="1485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000" dirty="0">
                <a:solidFill>
                  <a:srgbClr val="103D40"/>
                </a:solidFill>
                <a:latin typeface="Georgia"/>
                <a:cs typeface="Georgia"/>
              </a:rPr>
              <a:t>Four locals, four risks off the table before the first purchase closes.</a:t>
            </a:r>
          </a:p>
        </p:txBody>
      </p:sp>
      <p:pic>
        <p:nvPicPr>
          <p:cNvPr id="979" name="Graphic 9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3650" y="3619500"/>
            <a:ext cx="558800" cy="558800"/>
          </a:xfrm>
          <a:prstGeom prst="rect">
            <a:avLst/>
          </a:prstGeom>
        </p:spPr>
      </p:pic>
      <p:pic>
        <p:nvPicPr>
          <p:cNvPr id="980" name="Graphic 9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6850" y="3619500"/>
            <a:ext cx="558800" cy="558800"/>
          </a:xfrm>
          <a:prstGeom prst="rect">
            <a:avLst/>
          </a:prstGeom>
        </p:spPr>
      </p:pic>
      <p:pic>
        <p:nvPicPr>
          <p:cNvPr id="981" name="Graphic 9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0050" y="3619500"/>
            <a:ext cx="558800" cy="558800"/>
          </a:xfrm>
          <a:prstGeom prst="rect">
            <a:avLst/>
          </a:prstGeom>
        </p:spPr>
      </p:pic>
      <p:pic>
        <p:nvPicPr>
          <p:cNvPr id="982" name="Graphic 9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73250" y="36195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2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" y="2946400"/>
            <a:ext cx="3962400" cy="2540000"/>
          </a:xfrm>
          <a:custGeom>
            <a:avLst/>
            <a:gdLst/>
            <a:ahLst/>
            <a:cxnLst/>
            <a:rect l="l" t="t" r="r" b="b"/>
            <a:pathLst>
              <a:path w="3630701" h="2235200">
                <a:moveTo>
                  <a:pt x="0" y="0"/>
                </a:moveTo>
                <a:lnTo>
                  <a:pt x="3630701" y="0"/>
                </a:lnTo>
                <a:lnTo>
                  <a:pt x="3630701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CO"/>
          </a:p>
        </p:txBody>
      </p:sp>
      <p:sp>
        <p:nvSpPr>
          <p:cNvPr id="3" name="Freeform 3"/>
          <p:cNvSpPr/>
          <p:nvPr/>
        </p:nvSpPr>
        <p:spPr>
          <a:xfrm>
            <a:off x="736600" y="8382000"/>
            <a:ext cx="1168400" cy="13716"/>
          </a:xfrm>
          <a:custGeom>
            <a:avLst/>
            <a:gdLst/>
            <a:ahLst/>
            <a:cxnLst/>
            <a:rect l="l" t="t" r="r" b="b"/>
            <a:pathLst>
              <a:path w="3259836" h="13716">
                <a:moveTo>
                  <a:pt x="0" y="0"/>
                </a:moveTo>
                <a:lnTo>
                  <a:pt x="3259836" y="0"/>
                </a:lnTo>
                <a:lnTo>
                  <a:pt x="325983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4" name="Freeform 4"/>
          <p:cNvSpPr/>
          <p:nvPr/>
        </p:nvSpPr>
        <p:spPr>
          <a:xfrm>
            <a:off x="5080000" y="2946400"/>
            <a:ext cx="3962400" cy="2540000"/>
          </a:xfrm>
          <a:custGeom>
            <a:avLst/>
            <a:gdLst/>
            <a:ahLst/>
            <a:cxnLst/>
            <a:rect l="l" t="t" r="r" b="b"/>
            <a:pathLst>
              <a:path w="3630701" h="2235200">
                <a:moveTo>
                  <a:pt x="0" y="0"/>
                </a:moveTo>
                <a:lnTo>
                  <a:pt x="3630701" y="0"/>
                </a:lnTo>
                <a:lnTo>
                  <a:pt x="3630701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CO"/>
          </a:p>
        </p:txBody>
      </p:sp>
      <p:sp>
        <p:nvSpPr>
          <p:cNvPr id="5" name="Freeform 5"/>
          <p:cNvSpPr/>
          <p:nvPr/>
        </p:nvSpPr>
        <p:spPr>
          <a:xfrm>
            <a:off x="9245600" y="2946400"/>
            <a:ext cx="3962400" cy="2540000"/>
          </a:xfrm>
          <a:custGeom>
            <a:avLst/>
            <a:gdLst/>
            <a:ahLst/>
            <a:cxnLst/>
            <a:rect l="l" t="t" r="r" b="b"/>
            <a:pathLst>
              <a:path w="3630701" h="2235200">
                <a:moveTo>
                  <a:pt x="0" y="0"/>
                </a:moveTo>
                <a:lnTo>
                  <a:pt x="3630702" y="0"/>
                </a:lnTo>
                <a:lnTo>
                  <a:pt x="3630702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CO"/>
          </a:p>
        </p:txBody>
      </p:sp>
      <p:sp>
        <p:nvSpPr>
          <p:cNvPr id="8" name="Freeform 8"/>
          <p:cNvSpPr/>
          <p:nvPr/>
        </p:nvSpPr>
        <p:spPr>
          <a:xfrm>
            <a:off x="13411200" y="2946400"/>
            <a:ext cx="3962400" cy="2540000"/>
          </a:xfrm>
          <a:custGeom>
            <a:avLst/>
            <a:gdLst/>
            <a:ahLst/>
            <a:cxnLst/>
            <a:rect l="l" t="t" r="r" b="b"/>
            <a:pathLst>
              <a:path w="3630701" h="2235200">
                <a:moveTo>
                  <a:pt x="0" y="0"/>
                </a:moveTo>
                <a:lnTo>
                  <a:pt x="3630701" y="0"/>
                </a:lnTo>
                <a:lnTo>
                  <a:pt x="3630701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Box 11"/>
          <p:cNvSpPr txBox="1"/>
          <p:nvPr/>
        </p:nvSpPr>
        <p:spPr>
          <a:xfrm>
            <a:off x="646795" y="215579"/>
            <a:ext cx="6742862" cy="1521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Offer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9550" y="1813074"/>
            <a:ext cx="16649700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 $7.0M program returns 1.44x after a 20% carry and a 15% tax on gains.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9550" y="5715000"/>
            <a:ext cx="1643881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196" spc="2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Gain = improvement margin at resale + ~7.8% yearly appreciation. Returns shown after 15% gains tax.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9550" y="7366000"/>
            <a:ext cx="16989066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196" b="0" dirty="0">
                <a:solidFill>
                  <a:srgbClr val="0E2136"/>
                </a:solidFill>
                <a:latin typeface="Poppins"/>
                <a:ea typeface="Poppins"/>
                <a:cs typeface="Poppins"/>
                <a:sym typeface="Poppins"/>
              </a:rPr>
              <a:t>THE ASK</a:t>
            </a:r>
          </a:p>
          <a:p>
            <a:pPr algn="l">
              <a:lnSpc>
                <a:spcPts val="2604"/>
              </a:lnSpc>
              <a:spcBef>
                <a:spcPts val="1500"/>
              </a:spcBef>
            </a:pPr>
            <a:r>
              <a:rPr lang="en-US" sz="2196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$10,000 Membership Units · capital drawn as each acquisition closes · no debt · 20% carry paid only after every dollar of capital is returned · full liquidation in 4 years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9550" y="2427684"/>
            <a:ext cx="1664389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4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Delaware LLC managed by KIT Capital. Buy, renovate, let while marketed, sell at ~30 months.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2200" y="3581400"/>
            <a:ext cx="36068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$7.0M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57800" y="3581400"/>
            <a:ext cx="36068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1.44x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57800" y="3200400"/>
            <a:ext cx="2946400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100" spc="150" dirty="0">
                <a:solidFill>
                  <a:srgbClr val="B9684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INVESTOR MOIC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23400" y="3581400"/>
            <a:ext cx="36068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15.7%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23400" y="3200400"/>
            <a:ext cx="2946400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100" spc="150" dirty="0">
                <a:solidFill>
                  <a:srgbClr val="103D4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INVESTOR IRR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89000" y="3581400"/>
            <a:ext cx="36068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$11.4M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89000" y="3200400"/>
            <a:ext cx="2946400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100" spc="150" dirty="0">
                <a:solidFill>
                  <a:srgbClr val="B9684F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EXIT VALUE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9A48949E-0A2C-62FC-63A5-CE7C65482196}"/>
              </a:ext>
            </a:extLst>
          </p:cNvPr>
          <p:cNvSpPr txBox="1"/>
          <p:nvPr/>
        </p:nvSpPr>
        <p:spPr>
          <a:xfrm>
            <a:off x="1092200" y="3200400"/>
            <a:ext cx="2946400" cy="254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100" spc="150" dirty="0">
                <a:solidFill>
                  <a:srgbClr val="B9684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 CAPITAL</a:t>
            </a:r>
          </a:p>
        </p:txBody>
      </p:sp>
      <p:sp>
        <p:nvSpPr>
          <p:cNvPr id="30" name="Bar committed"/>
          <p:cNvSpPr/>
          <p:nvPr/>
        </p:nvSpPr>
        <p:spPr>
          <a:xfrm>
            <a:off x="736600" y="6299200"/>
            <a:ext cx="4930140" cy="2794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Bar open"/>
          <p:cNvSpPr/>
          <p:nvPr/>
        </p:nvSpPr>
        <p:spPr>
          <a:xfrm>
            <a:off x="5666740" y="6299200"/>
            <a:ext cx="11503660" cy="2794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Bar label left"/>
          <p:cNvSpPr txBox="1"/>
          <p:nvPr/>
        </p:nvSpPr>
        <p:spPr>
          <a:xfrm>
            <a:off x="736600" y="6680200"/>
            <a:ext cx="6910546" cy="30508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$2.1M committed</a:t>
            </a:r>
            <a:r>
              <a:rPr lang="en-US" sz="18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 · two properties closed, three in negotiation</a:t>
            </a:r>
          </a:p>
        </p:txBody>
      </p:sp>
      <p:sp>
        <p:nvSpPr>
          <p:cNvPr id="33" name="Bar label right"/>
          <p:cNvSpPr txBox="1"/>
          <p:nvPr/>
        </p:nvSpPr>
        <p:spPr>
          <a:xfrm>
            <a:off x="13856993" y="6680200"/>
            <a:ext cx="3313407" cy="30508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$4.9M open to new Members</a:t>
            </a:r>
          </a:p>
        </p:txBody>
      </p:sp>
      <p:pic>
        <p:nvPicPr>
          <p:cNvPr id="34" name="Graphic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200" y="3149600"/>
            <a:ext cx="381000" cy="381000"/>
          </a:xfrm>
          <a:prstGeom prst="rect">
            <a:avLst/>
          </a:prstGeom>
        </p:spPr>
      </p:pic>
      <p:pic>
        <p:nvPicPr>
          <p:cNvPr id="35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2800" y="3149600"/>
            <a:ext cx="381000" cy="381000"/>
          </a:xfrm>
          <a:prstGeom prst="rect">
            <a:avLst/>
          </a:prstGeom>
        </p:spPr>
      </p:pic>
      <p:pic>
        <p:nvPicPr>
          <p:cNvPr id="36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98400" y="3149600"/>
            <a:ext cx="381000" cy="381000"/>
          </a:xfrm>
          <a:prstGeom prst="rect">
            <a:avLst/>
          </a:prstGeom>
        </p:spPr>
      </p:pic>
      <p:pic>
        <p:nvPicPr>
          <p:cNvPr id="37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00" y="3149600"/>
            <a:ext cx="381000" cy="381000"/>
          </a:xfrm>
          <a:prstGeom prst="rect">
            <a:avLst/>
          </a:prstGeom>
        </p:spPr>
      </p:pic>
      <p:sp>
        <p:nvSpPr>
          <p:cNvPr id="960" name="Sub"/>
          <p:cNvSpPr txBox="1"/>
          <p:nvPr/>
        </p:nvSpPr>
        <p:spPr>
          <a:xfrm>
            <a:off x="1092200" y="4851400"/>
            <a:ext cx="3606800" cy="381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1400" dirty="0">
                <a:solidFill>
                  <a:srgbClr val="FFFFFF"/>
                </a:solidFill>
                <a:latin typeface="Poppins Light"/>
                <a:cs typeface="Poppins Light"/>
              </a:rPr>
              <a:t>program commitment</a:t>
            </a:r>
          </a:p>
        </p:txBody>
      </p:sp>
      <p:sp>
        <p:nvSpPr>
          <p:cNvPr id="961" name="Sub"/>
          <p:cNvSpPr txBox="1"/>
          <p:nvPr/>
        </p:nvSpPr>
        <p:spPr>
          <a:xfrm>
            <a:off x="5257800" y="4851400"/>
            <a:ext cx="3606800" cy="381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1400" dirty="0">
                <a:solidFill>
                  <a:srgbClr val="FFFFFF"/>
                </a:solidFill>
                <a:latin typeface="Poppins Light"/>
                <a:cs typeface="Poppins Light"/>
              </a:rPr>
              <a:t>on called capital</a:t>
            </a:r>
          </a:p>
        </p:txBody>
      </p:sp>
      <p:sp>
        <p:nvSpPr>
          <p:cNvPr id="962" name="Sub"/>
          <p:cNvSpPr txBox="1"/>
          <p:nvPr/>
        </p:nvSpPr>
        <p:spPr>
          <a:xfrm>
            <a:off x="9423400" y="4851400"/>
            <a:ext cx="3606800" cy="381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1400" dirty="0">
                <a:solidFill>
                  <a:srgbClr val="103D40"/>
                </a:solidFill>
                <a:latin typeface="Poppins Light"/>
                <a:cs typeface="Poppins Light"/>
              </a:rPr>
              <a:t>after tax and carry</a:t>
            </a:r>
          </a:p>
        </p:txBody>
      </p:sp>
      <p:sp>
        <p:nvSpPr>
          <p:cNvPr id="963" name="Sub"/>
          <p:cNvSpPr txBox="1"/>
          <p:nvPr/>
        </p:nvSpPr>
        <p:spPr>
          <a:xfrm>
            <a:off x="13589000" y="4851400"/>
            <a:ext cx="3606800" cy="381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1400" dirty="0">
                <a:solidFill>
                  <a:srgbClr val="FFFFFF"/>
                </a:solidFill>
                <a:latin typeface="Poppins Light"/>
                <a:cs typeface="Poppins Light"/>
              </a:rPr>
              <a:t>projected, five homes</a:t>
            </a:r>
          </a:p>
        </p:txBody>
      </p:sp>
    </p:spTree>
    <p:extLst>
      <p:ext uri="{BB962C8B-B14F-4D97-AF65-F5344CB8AC3E}">
        <p14:creationId xmlns:p14="http://schemas.microsoft.com/office/powerpoint/2010/main" val="246553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1"/>
          <p:cNvSpPr/>
          <p:nvPr/>
        </p:nvSpPr>
        <p:spPr>
          <a:xfrm>
            <a:off x="17665700" y="0"/>
            <a:ext cx="622300" cy="10287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2"/>
          <p:cNvSpPr txBox="1"/>
          <p:nvPr/>
        </p:nvSpPr>
        <p:spPr>
          <a:xfrm>
            <a:off x="774700" y="152400"/>
            <a:ext cx="16510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 dirty="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Three Equity Kickers</a:t>
            </a:r>
          </a:p>
        </p:txBody>
      </p:sp>
      <p:sp>
        <p:nvSpPr>
          <p:cNvPr id="102" name="TextBox 103"/>
          <p:cNvSpPr txBox="1"/>
          <p:nvPr/>
        </p:nvSpPr>
        <p:spPr>
          <a:xfrm>
            <a:off x="800100" y="1778000"/>
            <a:ext cx="15875000" cy="363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2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Three rights that come with the units, whether or not you ever invest again.</a:t>
            </a:r>
          </a:p>
        </p:txBody>
      </p:sp>
      <p:sp>
        <p:nvSpPr>
          <p:cNvPr id="105" name="Shape 106"/>
          <p:cNvSpPr/>
          <p:nvPr/>
        </p:nvSpPr>
        <p:spPr>
          <a:xfrm>
            <a:off x="914400" y="2540000"/>
            <a:ext cx="5257800" cy="4445000"/>
          </a:xfrm>
          <a:prstGeom prst="roundRect">
            <a:avLst>
              <a:gd name="adj" fmla="val 5000"/>
            </a:avLst>
          </a:prstGeom>
          <a:solidFill>
            <a:srgbClr val="CFE8E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9"/>
          <p:cNvSpPr txBox="1"/>
          <p:nvPr/>
        </p:nvSpPr>
        <p:spPr>
          <a:xfrm>
            <a:off x="1270000" y="2895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00" spc="200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</a:p>
        </p:txBody>
      </p:sp>
      <p:sp>
        <p:nvSpPr>
          <p:cNvPr id="109" name="TextBox 110"/>
          <p:cNvSpPr txBox="1"/>
          <p:nvPr/>
        </p:nvSpPr>
        <p:spPr>
          <a:xfrm>
            <a:off x="1270000" y="51435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of the Lola &amp; Ber brand</a:t>
            </a:r>
          </a:p>
        </p:txBody>
      </p:sp>
      <p:sp>
        <p:nvSpPr>
          <p:cNvPr id="110" name="TextBox 111"/>
          <p:cNvSpPr txBox="1"/>
          <p:nvPr/>
        </p:nvSpPr>
        <p:spPr>
          <a:xfrm>
            <a:off x="1270000" y="6121400"/>
            <a:ext cx="45466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equity, not bricks. No capital call, no dilution.</a:t>
            </a:r>
          </a:p>
        </p:txBody>
      </p:sp>
      <p:sp>
        <p:nvSpPr>
          <p:cNvPr id="111" name="Shape 112"/>
          <p:cNvSpPr/>
          <p:nvPr/>
        </p:nvSpPr>
        <p:spPr>
          <a:xfrm>
            <a:off x="1270000" y="5867400"/>
            <a:ext cx="4546600" cy="127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9"/>
          <p:cNvSpPr/>
          <p:nvPr/>
        </p:nvSpPr>
        <p:spPr>
          <a:xfrm>
            <a:off x="6527800" y="2540000"/>
            <a:ext cx="5257800" cy="4445000"/>
          </a:xfrm>
          <a:prstGeom prst="roundRect">
            <a:avLst>
              <a:gd name="adj" fmla="val 5000"/>
            </a:avLst>
          </a:prstGeom>
          <a:solidFill>
            <a:srgbClr val="CFE8E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 122"/>
          <p:cNvSpPr txBox="1"/>
          <p:nvPr/>
        </p:nvSpPr>
        <p:spPr>
          <a:xfrm>
            <a:off x="6883400" y="2895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00" spc="200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</a:p>
        </p:txBody>
      </p:sp>
      <p:sp>
        <p:nvSpPr>
          <p:cNvPr id="122" name="TextBox 123"/>
          <p:cNvSpPr txBox="1"/>
          <p:nvPr/>
        </p:nvSpPr>
        <p:spPr>
          <a:xfrm>
            <a:off x="6883400" y="51435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into every future Dulcinea round</a:t>
            </a:r>
          </a:p>
        </p:txBody>
      </p:sp>
      <p:sp>
        <p:nvSpPr>
          <p:cNvPr id="123" name="TextBox 124"/>
          <p:cNvSpPr txBox="1"/>
          <p:nvPr/>
        </p:nvSpPr>
        <p:spPr>
          <a:xfrm>
            <a:off x="6883400" y="6121400"/>
            <a:ext cx="45466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$7M today; $10M and $15M raises to follow. Optional.</a:t>
            </a:r>
          </a:p>
        </p:txBody>
      </p:sp>
      <p:sp>
        <p:nvSpPr>
          <p:cNvPr id="124" name="Shape 125"/>
          <p:cNvSpPr/>
          <p:nvPr/>
        </p:nvSpPr>
        <p:spPr>
          <a:xfrm>
            <a:off x="6883400" y="5867400"/>
            <a:ext cx="4546600" cy="127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Box 133"/>
          <p:cNvSpPr txBox="1"/>
          <p:nvPr/>
        </p:nvSpPr>
        <p:spPr>
          <a:xfrm>
            <a:off x="914400" y="8382000"/>
            <a:ext cx="164846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Sign once, keep all three. None of them is in the 1.44x / 15.7% base case.</a:t>
            </a:r>
          </a:p>
        </p:txBody>
      </p:sp>
      <p:sp>
        <p:nvSpPr>
          <p:cNvPr id="133" name="TextBox 134"/>
          <p:cNvSpPr txBox="1"/>
          <p:nvPr/>
        </p:nvSpPr>
        <p:spPr>
          <a:xfrm>
            <a:off x="914400" y="9093200"/>
            <a:ext cx="16484600" cy="215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300" dirty="0">
                <a:solidFill>
                  <a:srgbClr val="7A7A7A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Percentages and vesting terms are set out in the Membership documents.</a:t>
            </a:r>
          </a:p>
        </p:txBody>
      </p:sp>
      <p:sp>
        <p:nvSpPr>
          <p:cNvPr id="134" name="Shape 119"/>
          <p:cNvSpPr/>
          <p:nvPr/>
        </p:nvSpPr>
        <p:spPr>
          <a:xfrm>
            <a:off x="12141200" y="2540000"/>
            <a:ext cx="5257800" cy="4445000"/>
          </a:xfrm>
          <a:prstGeom prst="roundRect">
            <a:avLst>
              <a:gd name="adj" fmla="val 5000"/>
            </a:avLst>
          </a:prstGeom>
          <a:solidFill>
            <a:srgbClr val="CFE8E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Box 122"/>
          <p:cNvSpPr txBox="1"/>
          <p:nvPr/>
        </p:nvSpPr>
        <p:spPr>
          <a:xfrm>
            <a:off x="12496800" y="2895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00" spc="200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STRUCTURE</a:t>
            </a:r>
          </a:p>
        </p:txBody>
      </p:sp>
      <p:sp>
        <p:nvSpPr>
          <p:cNvPr id="138" name="TextBox 123"/>
          <p:cNvSpPr txBox="1"/>
          <p:nvPr/>
        </p:nvSpPr>
        <p:spPr>
          <a:xfrm>
            <a:off x="12496800" y="51435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 b="0" dirty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in the Managing Partner structure</a:t>
            </a:r>
          </a:p>
        </p:txBody>
      </p:sp>
      <p:sp>
        <p:nvSpPr>
          <p:cNvPr id="139" name="TextBox 124"/>
          <p:cNvSpPr txBox="1"/>
          <p:nvPr/>
        </p:nvSpPr>
        <p:spPr>
          <a:xfrm>
            <a:off x="12496800" y="6121400"/>
            <a:ext cx="45466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600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share of platform economics, ahead of new participants.</a:t>
            </a:r>
          </a:p>
        </p:txBody>
      </p:sp>
      <p:sp>
        <p:nvSpPr>
          <p:cNvPr id="140" name="Shape 125"/>
          <p:cNvSpPr/>
          <p:nvPr/>
        </p:nvSpPr>
        <p:spPr>
          <a:xfrm>
            <a:off x="12496800" y="5867400"/>
            <a:ext cx="4546600" cy="127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7" name="Graphic 1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9400" y="2844800"/>
            <a:ext cx="457200" cy="457200"/>
          </a:xfrm>
          <a:prstGeom prst="rect">
            <a:avLst/>
          </a:prstGeom>
        </p:spPr>
      </p:pic>
      <p:pic>
        <p:nvPicPr>
          <p:cNvPr id="148" name="Graphic 1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2844800"/>
            <a:ext cx="457200" cy="457200"/>
          </a:xfrm>
          <a:prstGeom prst="rect">
            <a:avLst/>
          </a:prstGeom>
        </p:spPr>
      </p:pic>
      <p:pic>
        <p:nvPicPr>
          <p:cNvPr id="149" name="Graphic 1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86200" y="2844800"/>
            <a:ext cx="457200" cy="457200"/>
          </a:xfrm>
          <a:prstGeom prst="rect">
            <a:avLst/>
          </a:prstGeom>
        </p:spPr>
      </p:pic>
      <p:sp>
        <p:nvSpPr>
          <p:cNvPr id="800" name="T800"/>
          <p:cNvSpPr txBox="1"/>
          <p:nvPr/>
        </p:nvSpPr>
        <p:spPr>
          <a:xfrm>
            <a:off x="1270000" y="3683000"/>
            <a:ext cx="4546600" cy="1397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8000" dirty="0">
                <a:solidFill>
                  <a:srgbClr val="103D40"/>
                </a:solidFill>
                <a:latin typeface="Georgia"/>
                <a:cs typeface="Georgia"/>
              </a:rPr>
              <a:t>3%</a:t>
            </a:r>
          </a:p>
        </p:txBody>
      </p:sp>
      <p:sp>
        <p:nvSpPr>
          <p:cNvPr id="801" name="T801"/>
          <p:cNvSpPr txBox="1"/>
          <p:nvPr/>
        </p:nvSpPr>
        <p:spPr>
          <a:xfrm>
            <a:off x="6883400" y="3683000"/>
            <a:ext cx="4546600" cy="1397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8000" dirty="0">
                <a:solidFill>
                  <a:srgbClr val="103D40"/>
                </a:solidFill>
                <a:latin typeface="Georgia"/>
                <a:cs typeface="Georgia"/>
              </a:rPr>
              <a:t>Pro-rata</a:t>
            </a:r>
          </a:p>
        </p:txBody>
      </p:sp>
      <p:sp>
        <p:nvSpPr>
          <p:cNvPr id="802" name="T802"/>
          <p:cNvSpPr txBox="1"/>
          <p:nvPr/>
        </p:nvSpPr>
        <p:spPr>
          <a:xfrm>
            <a:off x="12496800" y="3683000"/>
            <a:ext cx="4546600" cy="1397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8000" dirty="0">
                <a:solidFill>
                  <a:srgbClr val="103D40"/>
                </a:solidFill>
                <a:latin typeface="Georgia"/>
                <a:cs typeface="Georgia"/>
              </a:rPr>
              <a:t>Priority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914400" y="8128000"/>
            <a:ext cx="1778000" cy="254000"/>
          </a:xfrm>
          <a:prstGeom prst="rect">
            <a:avLst/>
          </a:prstGeom>
          <a:noFill/>
        </p:spPr>
        <p:txBody>
          <a:bodyPr wrap="square" lIns="36000" tIns="0" rIns="36000" bIns="0"/>
          <a:lstStyle/>
          <a:p>
            <a:r>
              <a:rPr lang="en-US" sz="1400" spc="200" dirty="0">
                <a:solidFill>
                  <a:srgbClr val="B9684F"/>
                </a:solidFill>
                <a:latin typeface="Poppins Light"/>
                <a:cs typeface="Poppins Light"/>
              </a:rPr>
              <a:t>BOTTOM LINE</a:t>
            </a:r>
          </a:p>
        </p:txBody>
      </p:sp>
    </p:spTree>
    <p:extLst>
      <p:ext uri="{BB962C8B-B14F-4D97-AF65-F5344CB8AC3E}">
        <p14:creationId xmlns:p14="http://schemas.microsoft.com/office/powerpoint/2010/main" val="332669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6230600" cy="4361659"/>
            <a:chOff x="0" y="0"/>
            <a:chExt cx="21640800" cy="5815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40800" cy="5815584"/>
            </a:xfrm>
            <a:custGeom>
              <a:avLst/>
              <a:gdLst/>
              <a:ahLst/>
              <a:cxnLst/>
              <a:rect l="l" t="t" r="r" b="b"/>
              <a:pathLst>
                <a:path w="21640800" h="5815584">
                  <a:moveTo>
                    <a:pt x="0" y="0"/>
                  </a:moveTo>
                  <a:lnTo>
                    <a:pt x="0" y="5721350"/>
                  </a:lnTo>
                  <a:cubicBezTo>
                    <a:pt x="127" y="5773420"/>
                    <a:pt x="42291" y="5815584"/>
                    <a:pt x="94361" y="5815584"/>
                  </a:cubicBezTo>
                  <a:lnTo>
                    <a:pt x="21546438" y="5815584"/>
                  </a:lnTo>
                  <a:cubicBezTo>
                    <a:pt x="21598381" y="5815584"/>
                    <a:pt x="21640546" y="5773674"/>
                    <a:pt x="21640800" y="5721858"/>
                  </a:cubicBezTo>
                  <a:lnTo>
                    <a:pt x="21640800" y="0"/>
                  </a:lnTo>
                  <a:close/>
                </a:path>
              </a:pathLst>
            </a:custGeom>
            <a:blipFill>
              <a:blip r:embed="rId2"/>
              <a:stretch>
                <a:fillRect t="-160826" b="-31453"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7" name="Freeform 7"/>
          <p:cNvSpPr/>
          <p:nvPr/>
        </p:nvSpPr>
        <p:spPr>
          <a:xfrm>
            <a:off x="8059741" y="6451600"/>
            <a:ext cx="9280522" cy="1203322"/>
          </a:xfrm>
          <a:custGeom>
            <a:avLst/>
            <a:gdLst/>
            <a:ahLst/>
            <a:cxnLst/>
            <a:rect l="l" t="t" r="r" b="b"/>
            <a:pathLst>
              <a:path w="9280522" h="1203322">
                <a:moveTo>
                  <a:pt x="0" y="0"/>
                </a:moveTo>
                <a:lnTo>
                  <a:pt x="9280521" y="0"/>
                </a:lnTo>
                <a:lnTo>
                  <a:pt x="9280521" y="1203321"/>
                </a:lnTo>
                <a:lnTo>
                  <a:pt x="0" y="1203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10" name="TextBox 10"/>
          <p:cNvSpPr txBox="1"/>
          <p:nvPr/>
        </p:nvSpPr>
        <p:spPr>
          <a:xfrm>
            <a:off x="1028700" y="6070600"/>
            <a:ext cx="6858000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00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8200" y="6680200"/>
            <a:ext cx="234268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3238"/>
                </a:solidFill>
                <a:latin typeface="Poppins"/>
                <a:ea typeface="Poppins"/>
                <a:cs typeface="Poppins"/>
                <a:sym typeface="Poppins"/>
              </a:rPr>
              <a:t>K. Dov Isaza Tuzman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89948" y="7023100"/>
            <a:ext cx="415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200" y="7023100"/>
            <a:ext cx="3810000" cy="23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400" spc="18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MANAGING DIRECTOR · DULCINEA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96259" y="6921500"/>
            <a:ext cx="18012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kit@kitcapital.com</a:t>
            </a:r>
          </a:p>
        </p:txBody>
      </p:sp>
    </p:spTree>
    <p:extLst>
      <p:ext uri="{BB962C8B-B14F-4D97-AF65-F5344CB8AC3E}">
        <p14:creationId xmlns:p14="http://schemas.microsoft.com/office/powerpoint/2010/main" val="340870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2A71A-E828-4649-ACBB-3A4F489A0F99}"/>
              </a:ext>
            </a:extLst>
          </p:cNvPr>
          <p:cNvSpPr/>
          <p:nvPr/>
        </p:nvSpPr>
        <p:spPr>
          <a:xfrm>
            <a:off x="17665700" y="0"/>
            <a:ext cx="622300" cy="10287000"/>
          </a:xfrm>
          <a:prstGeom prst="rect">
            <a:avLst/>
          </a:prstGeom>
          <a:solidFill>
            <a:srgbClr val="2D8C8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F9649-DBAA-4A1D-ABD0-009D1BE7C39B}"/>
              </a:ext>
            </a:extLst>
          </p:cNvPr>
          <p:cNvSpPr txBox="1"/>
          <p:nvPr/>
        </p:nvSpPr>
        <p:spPr>
          <a:xfrm>
            <a:off x="774700" y="3810000"/>
            <a:ext cx="1587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800">
                <a:solidFill>
                  <a:srgbClr val="103D40"/>
                </a:solidFill>
                <a:latin typeface="Poppins Light"/>
                <a:cs typeface="Poppins Light"/>
              </a:rPr>
              <a:t>Appendix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E25CD-4A36-4C52-937F-5D43CF4EE506}"/>
              </a:ext>
            </a:extLst>
          </p:cNvPr>
          <p:cNvSpPr txBox="1"/>
          <p:nvPr/>
        </p:nvSpPr>
        <p:spPr>
          <a:xfrm>
            <a:off x="800100" y="5461000"/>
            <a:ext cx="158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273238"/>
                </a:solidFill>
                <a:latin typeface="Poppins Light"/>
                <a:cs typeface="Poppins Light"/>
              </a:rPr>
              <a:t>Property detail and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1099899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33668" y="3365500"/>
            <a:ext cx="6398820" cy="5499100"/>
            <a:chOff x="0" y="0"/>
            <a:chExt cx="8534387" cy="7281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7281291"/>
            </a:xfrm>
            <a:custGeom>
              <a:avLst/>
              <a:gdLst/>
              <a:ahLst/>
              <a:cxnLst/>
              <a:rect l="l" t="t" r="r" b="b"/>
              <a:pathLst>
                <a:path w="8534400" h="7281291">
                  <a:moveTo>
                    <a:pt x="0" y="0"/>
                  </a:moveTo>
                  <a:lnTo>
                    <a:pt x="8534400" y="0"/>
                  </a:lnTo>
                  <a:lnTo>
                    <a:pt x="8534400" y="7281291"/>
                  </a:lnTo>
                  <a:lnTo>
                    <a:pt x="0" y="728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6" name="Freeform 6"/>
          <p:cNvSpPr/>
          <p:nvPr/>
        </p:nvSpPr>
        <p:spPr>
          <a:xfrm>
            <a:off x="1003300" y="3365500"/>
            <a:ext cx="6997700" cy="5600700"/>
          </a:xfrm>
          <a:custGeom>
            <a:avLst/>
            <a:gdLst/>
            <a:ahLst/>
            <a:cxnLst/>
            <a:rect l="l" t="t" r="r" b="b"/>
            <a:pathLst>
              <a:path w="6994522" h="5597528">
                <a:moveTo>
                  <a:pt x="0" y="0"/>
                </a:moveTo>
                <a:lnTo>
                  <a:pt x="6994522" y="0"/>
                </a:lnTo>
                <a:lnTo>
                  <a:pt x="6994522" y="5597528"/>
                </a:lnTo>
                <a:lnTo>
                  <a:pt x="0" y="55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TextBox 7"/>
          <p:cNvSpPr txBox="1"/>
          <p:nvPr/>
        </p:nvSpPr>
        <p:spPr>
          <a:xfrm>
            <a:off x="1066800" y="508000"/>
            <a:ext cx="8890000" cy="166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spc="22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ACTIVE PORTFOLIO · PROPERTY 1 OF 5</a:t>
            </a:r>
          </a:p>
          <a:p>
            <a:pPr algn="l">
              <a:lnSpc>
                <a:spcPts val="8200"/>
              </a:lnSpc>
            </a:pPr>
            <a:r>
              <a:rPr lang="en-US" sz="66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San Lucas 101</a:t>
            </a:r>
          </a:p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Poblado, Medellín · Apartment · 325 m² (3,498 sq ft)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2540000"/>
            <a:ext cx="221161" cy="66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6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◆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803" y="3584419"/>
            <a:ext cx="1776965" cy="24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676" y="2565400"/>
            <a:ext cx="4108028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NEGOTIATED</a:t>
            </a:r>
            <a:r>
              <a:rPr lang="en-US" sz="1404" spc="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1404" spc="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COMPRAVENTA</a:t>
            </a:r>
            <a:r>
              <a:rPr lang="en-US" sz="1404" spc="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DRAFTED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0" y="3584419"/>
            <a:ext cx="1255462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IN THE FUND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5700" y="43468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405700" y="52612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05700" y="61756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405700" y="70900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405700" y="80044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803400" y="6921500"/>
            <a:ext cx="5588000" cy="80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Furnished let ~20 months while marketed · ~$24K NOI/yr · not relied 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400" y="60071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Six-month renovation; $291K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400" y="50927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Purchase $445K · all-in $747K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400" y="41783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 furnished apartment, estrato 5–6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7835900"/>
            <a:ext cx="558800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4Q26 → 1Q29 · 25-month hold · $1.27M, 1.69× uplift</a:t>
            </a:r>
          </a:p>
        </p:txBody>
      </p:sp>
      <p:sp>
        <p:nvSpPr>
          <p:cNvPr id="72" name="Seal Disc 72"/>
          <p:cNvSpPr/>
          <p:nvPr/>
        </p:nvSpPr>
        <p:spPr>
          <a:xfrm>
            <a:off x="15798800" y="381000"/>
            <a:ext cx="1524000" cy="1524000"/>
          </a:xfrm>
          <a:prstGeom prst="ellipse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eal Ring 73"/>
          <p:cNvSpPr/>
          <p:nvPr/>
        </p:nvSpPr>
        <p:spPr>
          <a:xfrm>
            <a:off x="15900400" y="482600"/>
            <a:ext cx="1320800" cy="1320800"/>
          </a:xfrm>
          <a:prstGeom prst="ellipse">
            <a:avLst/>
          </a:prstGeom>
          <a:noFill/>
          <a:ln w="9525">
            <a:solidFill>
              <a:srgbClr val="B9684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000"/>
              </a:lnSpc>
            </a:pPr>
            <a:endParaRPr/>
          </a:p>
          <a:p>
            <a:pPr algn="ctr">
              <a:lnSpc>
                <a:spcPts val="1450"/>
              </a:lnSpc>
            </a:pPr>
            <a:r>
              <a:rPr lang="en-US" sz="1200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  <a:p>
            <a:pPr algn="ctr">
              <a:lnSpc>
                <a:spcPts val="2300"/>
              </a:lnSpc>
            </a:pPr>
            <a:r>
              <a:rPr lang="en-US" sz="2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CLEARED</a:t>
            </a:r>
          </a:p>
        </p:txBody>
      </p:sp>
      <p:pic>
        <p:nvPicPr>
          <p:cNvPr id="74" name="Graphic 74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4368800"/>
            <a:ext cx="177800" cy="177800"/>
          </a:xfrm>
          <a:prstGeom prst="rect">
            <a:avLst/>
          </a:prstGeom>
        </p:spPr>
      </p:pic>
      <p:pic>
        <p:nvPicPr>
          <p:cNvPr id="75" name="Graphic 75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5283200"/>
            <a:ext cx="177800" cy="177800"/>
          </a:xfrm>
          <a:prstGeom prst="rect">
            <a:avLst/>
          </a:prstGeom>
        </p:spPr>
      </p:pic>
      <p:pic>
        <p:nvPicPr>
          <p:cNvPr id="76" name="Graphic 76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6197600"/>
            <a:ext cx="177800" cy="177800"/>
          </a:xfrm>
          <a:prstGeom prst="rect">
            <a:avLst/>
          </a:prstGeom>
        </p:spPr>
      </p:pic>
      <p:pic>
        <p:nvPicPr>
          <p:cNvPr id="77" name="Graphic 77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7112000"/>
            <a:ext cx="177800" cy="177800"/>
          </a:xfrm>
          <a:prstGeom prst="rect">
            <a:avLst/>
          </a:prstGeom>
        </p:spPr>
      </p:pic>
      <p:pic>
        <p:nvPicPr>
          <p:cNvPr id="78" name="Graphic 78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8026400"/>
            <a:ext cx="177800" cy="177800"/>
          </a:xfrm>
          <a:prstGeom prst="rect">
            <a:avLst/>
          </a:prstGeom>
        </p:spPr>
      </p:pic>
      <p:pic>
        <p:nvPicPr>
          <p:cNvPr id="79" name="Graphic 79" descr="criteria cleared 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3800" y="6350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70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834391" y="3365500"/>
            <a:ext cx="8183608" cy="5499100"/>
            <a:chOff x="0" y="0"/>
            <a:chExt cx="10922000" cy="7281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22000" cy="7281291"/>
            </a:xfrm>
            <a:custGeom>
              <a:avLst/>
              <a:gdLst/>
              <a:ahLst/>
              <a:cxnLst/>
              <a:rect l="l" t="t" r="r" b="b"/>
              <a:pathLst>
                <a:path w="10922000" h="7281291">
                  <a:moveTo>
                    <a:pt x="0" y="0"/>
                  </a:moveTo>
                  <a:lnTo>
                    <a:pt x="10922000" y="0"/>
                  </a:lnTo>
                  <a:lnTo>
                    <a:pt x="10922000" y="7281291"/>
                  </a:lnTo>
                  <a:lnTo>
                    <a:pt x="0" y="728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6" name="Freeform 6"/>
          <p:cNvSpPr/>
          <p:nvPr/>
        </p:nvSpPr>
        <p:spPr>
          <a:xfrm>
            <a:off x="998534" y="3360734"/>
            <a:ext cx="6994522" cy="5597528"/>
          </a:xfrm>
          <a:custGeom>
            <a:avLst/>
            <a:gdLst/>
            <a:ahLst/>
            <a:cxnLst/>
            <a:rect l="l" t="t" r="r" b="b"/>
            <a:pathLst>
              <a:path w="6994522" h="5597528">
                <a:moveTo>
                  <a:pt x="0" y="0"/>
                </a:moveTo>
                <a:lnTo>
                  <a:pt x="6994522" y="0"/>
                </a:lnTo>
                <a:lnTo>
                  <a:pt x="6994522" y="5597528"/>
                </a:lnTo>
                <a:lnTo>
                  <a:pt x="0" y="55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TextBox 7"/>
          <p:cNvSpPr txBox="1"/>
          <p:nvPr/>
        </p:nvSpPr>
        <p:spPr>
          <a:xfrm>
            <a:off x="1066800" y="508000"/>
            <a:ext cx="8890000" cy="166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spc="22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ACTIVE PORTFOLIO · PROPERTY 2 OF 5</a:t>
            </a:r>
          </a:p>
          <a:p>
            <a:pPr algn="l">
              <a:lnSpc>
                <a:spcPts val="8200"/>
              </a:lnSpc>
            </a:pPr>
            <a:r>
              <a:rPr lang="en-US" sz="66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Aires de Campestre</a:t>
            </a:r>
          </a:p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Poblado, Medellín · Penthouse · 489 m² (5,264 sq ft)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2540000"/>
            <a:ext cx="179146" cy="30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6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803" y="3584419"/>
            <a:ext cx="1776965" cy="24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7490" y="2565400"/>
            <a:ext cx="298646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SIGNED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CLOSING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SEP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0" y="3584419"/>
            <a:ext cx="1255462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IN THE FUND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5700" y="43468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405700" y="52612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05700" y="61756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405700" y="70900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405700" y="80044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803400" y="69215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 ~23 months while marketed · $19K NOI/yr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400" y="60071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Six-month renovation; $485K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400" y="50927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Purchase $667K · all-in $1.17M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400" y="41783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 penthouse, estrato 5–6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7835900"/>
            <a:ext cx="558800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4Q26 → 1Q29 · 28-month hold · $2.02M, 1.73× uplift</a:t>
            </a:r>
          </a:p>
        </p:txBody>
      </p:sp>
      <p:sp>
        <p:nvSpPr>
          <p:cNvPr id="72" name="Seal Disc 72"/>
          <p:cNvSpPr/>
          <p:nvPr/>
        </p:nvSpPr>
        <p:spPr>
          <a:xfrm>
            <a:off x="15798800" y="381000"/>
            <a:ext cx="1524000" cy="1524000"/>
          </a:xfrm>
          <a:prstGeom prst="ellipse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eal Ring 73"/>
          <p:cNvSpPr/>
          <p:nvPr/>
        </p:nvSpPr>
        <p:spPr>
          <a:xfrm>
            <a:off x="15900400" y="482600"/>
            <a:ext cx="1320800" cy="1320800"/>
          </a:xfrm>
          <a:prstGeom prst="ellipse">
            <a:avLst/>
          </a:prstGeom>
          <a:noFill/>
          <a:ln w="9525">
            <a:solidFill>
              <a:srgbClr val="B9684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000"/>
              </a:lnSpc>
            </a:pPr>
            <a:endParaRPr/>
          </a:p>
          <a:p>
            <a:pPr algn="ctr">
              <a:lnSpc>
                <a:spcPts val="1450"/>
              </a:lnSpc>
            </a:pPr>
            <a:r>
              <a:rPr lang="en-US" sz="1200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  <a:p>
            <a:pPr algn="ctr">
              <a:lnSpc>
                <a:spcPts val="2300"/>
              </a:lnSpc>
            </a:pPr>
            <a:r>
              <a:rPr lang="en-US" sz="2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CLEARED</a:t>
            </a:r>
          </a:p>
        </p:txBody>
      </p:sp>
      <p:pic>
        <p:nvPicPr>
          <p:cNvPr id="74" name="Graphic 74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4368800"/>
            <a:ext cx="177800" cy="177800"/>
          </a:xfrm>
          <a:prstGeom prst="rect">
            <a:avLst/>
          </a:prstGeom>
        </p:spPr>
      </p:pic>
      <p:pic>
        <p:nvPicPr>
          <p:cNvPr id="75" name="Graphic 75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5283200"/>
            <a:ext cx="177800" cy="177800"/>
          </a:xfrm>
          <a:prstGeom prst="rect">
            <a:avLst/>
          </a:prstGeom>
        </p:spPr>
      </p:pic>
      <p:pic>
        <p:nvPicPr>
          <p:cNvPr id="76" name="Graphic 76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6197600"/>
            <a:ext cx="177800" cy="177800"/>
          </a:xfrm>
          <a:prstGeom prst="rect">
            <a:avLst/>
          </a:prstGeom>
        </p:spPr>
      </p:pic>
      <p:pic>
        <p:nvPicPr>
          <p:cNvPr id="77" name="Graphic 77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7112000"/>
            <a:ext cx="177800" cy="177800"/>
          </a:xfrm>
          <a:prstGeom prst="rect">
            <a:avLst/>
          </a:prstGeom>
        </p:spPr>
      </p:pic>
      <p:pic>
        <p:nvPicPr>
          <p:cNvPr id="78" name="Graphic 78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8026400"/>
            <a:ext cx="177800" cy="177800"/>
          </a:xfrm>
          <a:prstGeom prst="rect">
            <a:avLst/>
          </a:prstGeom>
        </p:spPr>
      </p:pic>
      <p:pic>
        <p:nvPicPr>
          <p:cNvPr id="79" name="Graphic 79" descr="criteria cleared 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3800" y="6350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7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6" name="Freeform 6"/>
          <p:cNvSpPr/>
          <p:nvPr/>
        </p:nvSpPr>
        <p:spPr>
          <a:xfrm>
            <a:off x="998534" y="3360734"/>
            <a:ext cx="6994522" cy="5597528"/>
          </a:xfrm>
          <a:custGeom>
            <a:avLst/>
            <a:gdLst/>
            <a:ahLst/>
            <a:cxnLst/>
            <a:rect l="l" t="t" r="r" b="b"/>
            <a:pathLst>
              <a:path w="6994522" h="5597528">
                <a:moveTo>
                  <a:pt x="0" y="0"/>
                </a:moveTo>
                <a:lnTo>
                  <a:pt x="6994522" y="0"/>
                </a:lnTo>
                <a:lnTo>
                  <a:pt x="6994522" y="5597528"/>
                </a:lnTo>
                <a:lnTo>
                  <a:pt x="0" y="55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TextBox 7"/>
          <p:cNvSpPr txBox="1"/>
          <p:nvPr/>
        </p:nvSpPr>
        <p:spPr>
          <a:xfrm>
            <a:off x="1066800" y="508000"/>
            <a:ext cx="8890000" cy="166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spc="22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ACTIVE PORTFOLIO · PROPERTY 3 OF 5</a:t>
            </a:r>
          </a:p>
          <a:p>
            <a:pPr algn="l">
              <a:lnSpc>
                <a:spcPts val="8200"/>
              </a:lnSpc>
            </a:pPr>
            <a:r>
              <a:rPr lang="en-US" sz="66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Fontanar 201</a:t>
            </a:r>
          </a:p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Poblado, Medellín · Penthouse · 389 m² (4,187 sq ft)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2540000"/>
            <a:ext cx="179146" cy="30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6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803" y="3584419"/>
            <a:ext cx="1776965" cy="24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7490" y="2565400"/>
            <a:ext cx="298646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SIGNED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CLOSING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SEP</a:t>
            </a:r>
            <a:r>
              <a:rPr lang="en-US" sz="1404" spc="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4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0" y="3584419"/>
            <a:ext cx="1255462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IN THE FUND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5700" y="43468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405700" y="52612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05700" y="61756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405700" y="70900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405700" y="80044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803400" y="69215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 ~25 months while marketed · $17K NOI/yr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400" y="60071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Six-month renovation; $246K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400" y="50927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Purchase $1.02M · all-in $1.29M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400" y="41783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Poblado penthouse, estrato 5–6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7835900"/>
            <a:ext cx="558800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4Q26 → 2Q29 · 30-month hold · $2.26M, 1.75× uplift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C26C440-DD66-C380-7747-F99172BD06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00" y="3365500"/>
            <a:ext cx="4037910" cy="26860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CA42ECF-E703-B3A8-CCC1-CABFFF423B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00" y="6178550"/>
            <a:ext cx="4037910" cy="2686050"/>
          </a:xfrm>
          <a:prstGeom prst="rect">
            <a:avLst/>
          </a:prstGeom>
        </p:spPr>
      </p:pic>
      <p:sp>
        <p:nvSpPr>
          <p:cNvPr id="72" name="Seal Disc 72"/>
          <p:cNvSpPr/>
          <p:nvPr/>
        </p:nvSpPr>
        <p:spPr>
          <a:xfrm>
            <a:off x="15798800" y="381000"/>
            <a:ext cx="1524000" cy="1524000"/>
          </a:xfrm>
          <a:prstGeom prst="ellipse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eal Ring 73"/>
          <p:cNvSpPr/>
          <p:nvPr/>
        </p:nvSpPr>
        <p:spPr>
          <a:xfrm>
            <a:off x="15900400" y="482600"/>
            <a:ext cx="1320800" cy="1320800"/>
          </a:xfrm>
          <a:prstGeom prst="ellipse">
            <a:avLst/>
          </a:prstGeom>
          <a:noFill/>
          <a:ln w="9525">
            <a:solidFill>
              <a:srgbClr val="B9684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000"/>
              </a:lnSpc>
            </a:pPr>
            <a:endParaRPr/>
          </a:p>
          <a:p>
            <a:pPr algn="ctr">
              <a:lnSpc>
                <a:spcPts val="1450"/>
              </a:lnSpc>
            </a:pPr>
            <a:r>
              <a:rPr lang="en-US" sz="1200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  <a:p>
            <a:pPr algn="ctr">
              <a:lnSpc>
                <a:spcPts val="2300"/>
              </a:lnSpc>
            </a:pPr>
            <a:r>
              <a:rPr lang="en-US" sz="2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CLEARED</a:t>
            </a:r>
          </a:p>
        </p:txBody>
      </p:sp>
      <p:pic>
        <p:nvPicPr>
          <p:cNvPr id="74" name="Graphic 74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4368800"/>
            <a:ext cx="177800" cy="177800"/>
          </a:xfrm>
          <a:prstGeom prst="rect">
            <a:avLst/>
          </a:prstGeom>
        </p:spPr>
      </p:pic>
      <p:pic>
        <p:nvPicPr>
          <p:cNvPr id="75" name="Graphic 75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5283200"/>
            <a:ext cx="177800" cy="177800"/>
          </a:xfrm>
          <a:prstGeom prst="rect">
            <a:avLst/>
          </a:prstGeom>
        </p:spPr>
      </p:pic>
      <p:pic>
        <p:nvPicPr>
          <p:cNvPr id="76" name="Graphic 76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6197600"/>
            <a:ext cx="177800" cy="177800"/>
          </a:xfrm>
          <a:prstGeom prst="rect">
            <a:avLst/>
          </a:prstGeom>
        </p:spPr>
      </p:pic>
      <p:pic>
        <p:nvPicPr>
          <p:cNvPr id="77" name="Graphic 77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7112000"/>
            <a:ext cx="177800" cy="177800"/>
          </a:xfrm>
          <a:prstGeom prst="rect">
            <a:avLst/>
          </a:prstGeom>
        </p:spPr>
      </p:pic>
      <p:pic>
        <p:nvPicPr>
          <p:cNvPr id="78" name="Graphic 78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8026400"/>
            <a:ext cx="177800" cy="177800"/>
          </a:xfrm>
          <a:prstGeom prst="rect">
            <a:avLst/>
          </a:prstGeom>
        </p:spPr>
      </p:pic>
      <p:pic>
        <p:nvPicPr>
          <p:cNvPr id="79" name="Graphic 79" descr="criteria cleared 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33800" y="6350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85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97919" y="3365500"/>
            <a:ext cx="6994522" cy="5499100"/>
            <a:chOff x="0" y="0"/>
            <a:chExt cx="5875871" cy="7281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75909" cy="7281291"/>
            </a:xfrm>
            <a:custGeom>
              <a:avLst/>
              <a:gdLst/>
              <a:ahLst/>
              <a:cxnLst/>
              <a:rect l="l" t="t" r="r" b="b"/>
              <a:pathLst>
                <a:path w="5875909" h="7281291">
                  <a:moveTo>
                    <a:pt x="0" y="0"/>
                  </a:moveTo>
                  <a:lnTo>
                    <a:pt x="5875909" y="0"/>
                  </a:lnTo>
                  <a:lnTo>
                    <a:pt x="5875909" y="7281291"/>
                  </a:lnTo>
                  <a:lnTo>
                    <a:pt x="0" y="728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6" name="Freeform 6"/>
          <p:cNvSpPr/>
          <p:nvPr/>
        </p:nvSpPr>
        <p:spPr>
          <a:xfrm>
            <a:off x="998534" y="3360734"/>
            <a:ext cx="6994522" cy="5597528"/>
          </a:xfrm>
          <a:custGeom>
            <a:avLst/>
            <a:gdLst/>
            <a:ahLst/>
            <a:cxnLst/>
            <a:rect l="l" t="t" r="r" b="b"/>
            <a:pathLst>
              <a:path w="6994522" h="5597528">
                <a:moveTo>
                  <a:pt x="0" y="0"/>
                </a:moveTo>
                <a:lnTo>
                  <a:pt x="6994522" y="0"/>
                </a:lnTo>
                <a:lnTo>
                  <a:pt x="6994522" y="5597528"/>
                </a:lnTo>
                <a:lnTo>
                  <a:pt x="0" y="55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TextBox 7"/>
          <p:cNvSpPr txBox="1"/>
          <p:nvPr/>
        </p:nvSpPr>
        <p:spPr>
          <a:xfrm>
            <a:off x="1066800" y="508000"/>
            <a:ext cx="8890000" cy="166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spc="22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ACTIVE PORTFOLIO · PROPERTY 4 OF 5</a:t>
            </a:r>
          </a:p>
          <a:p>
            <a:pPr algn="l">
              <a:lnSpc>
                <a:spcPts val="8200"/>
              </a:lnSpc>
            </a:pPr>
            <a:r>
              <a:rPr lang="en-US" sz="66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Casa Monte Sereno</a:t>
            </a:r>
          </a:p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Retiro, Antioquia · House · 420 m² on a 2,940 m² lot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2540000"/>
            <a:ext cx="221161" cy="66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6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◆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800" y="3581400"/>
            <a:ext cx="1778000" cy="24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 CHECK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3500" y="2565400"/>
            <a:ext cx="4406900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NEGOTIATED</a:t>
            </a:r>
            <a:r>
              <a:rPr lang="en-US" sz="1404" spc="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1404" spc="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FINALIZING</a:t>
            </a:r>
            <a:r>
              <a:rPr lang="en-US" sz="1404" spc="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MODIFICATIONS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0000" y="3581400"/>
            <a:ext cx="1257300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IN THE FUND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5700" y="43468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05700" y="52612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405700" y="61756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405700" y="70900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803400" y="69215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 ~27 months while marketed · NOI $13K/yr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400" y="60071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Six-month renovation; $324K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400" y="50927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Purchase $1.29M · all-in $1.65M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400" y="41783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 estate, Parcelación Monte Sereno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7835900"/>
            <a:ext cx="558800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1Q27 → 4Q29 · 32-month hold · $2.83M, 1.72× uplift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4300" y="7924800"/>
            <a:ext cx="1778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45"/>
              </a:lnSpc>
            </a:pPr>
            <a:endParaRPr/>
          </a:p>
        </p:txBody>
      </p:sp>
      <p:sp>
        <p:nvSpPr>
          <p:cNvPr id="74" name="Seal Disc 74"/>
          <p:cNvSpPr/>
          <p:nvPr/>
        </p:nvSpPr>
        <p:spPr>
          <a:xfrm>
            <a:off x="15798800" y="381000"/>
            <a:ext cx="1524000" cy="1524000"/>
          </a:xfrm>
          <a:prstGeom prst="ellipse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Seal Ring 75"/>
          <p:cNvSpPr/>
          <p:nvPr/>
        </p:nvSpPr>
        <p:spPr>
          <a:xfrm>
            <a:off x="15900400" y="482600"/>
            <a:ext cx="1320800" cy="1320800"/>
          </a:xfrm>
          <a:prstGeom prst="ellipse">
            <a:avLst/>
          </a:prstGeom>
          <a:noFill/>
          <a:ln w="9525">
            <a:solidFill>
              <a:srgbClr val="B9684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000"/>
              </a:lnSpc>
            </a:pPr>
            <a:endParaRPr/>
          </a:p>
          <a:p>
            <a:pPr algn="ctr">
              <a:lnSpc>
                <a:spcPts val="1450"/>
              </a:lnSpc>
            </a:pPr>
            <a:r>
              <a:rPr lang="en-US" sz="1200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  <a:p>
            <a:pPr algn="ctr">
              <a:lnSpc>
                <a:spcPts val="2300"/>
              </a:lnSpc>
            </a:pPr>
            <a:r>
              <a:rPr lang="en-US" sz="2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CLEARED</a:t>
            </a:r>
          </a:p>
        </p:txBody>
      </p:sp>
      <p:pic>
        <p:nvPicPr>
          <p:cNvPr id="76" name="Graphic 76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4368800"/>
            <a:ext cx="177800" cy="177800"/>
          </a:xfrm>
          <a:prstGeom prst="rect">
            <a:avLst/>
          </a:prstGeom>
        </p:spPr>
      </p:pic>
      <p:pic>
        <p:nvPicPr>
          <p:cNvPr id="77" name="Graphic 77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5283200"/>
            <a:ext cx="177800" cy="177800"/>
          </a:xfrm>
          <a:prstGeom prst="rect">
            <a:avLst/>
          </a:prstGeom>
        </p:spPr>
      </p:pic>
      <p:pic>
        <p:nvPicPr>
          <p:cNvPr id="78" name="Graphic 78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6197600"/>
            <a:ext cx="177800" cy="177800"/>
          </a:xfrm>
          <a:prstGeom prst="rect">
            <a:avLst/>
          </a:prstGeom>
        </p:spPr>
      </p:pic>
      <p:pic>
        <p:nvPicPr>
          <p:cNvPr id="79" name="Graphic 79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7112000"/>
            <a:ext cx="177800" cy="177800"/>
          </a:xfrm>
          <a:prstGeom prst="rect">
            <a:avLst/>
          </a:prstGeom>
        </p:spPr>
      </p:pic>
      <p:pic>
        <p:nvPicPr>
          <p:cNvPr id="81" name="Graphic 81" descr="criteria cleared 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3800" y="635000"/>
            <a:ext cx="254000" cy="254000"/>
          </a:xfrm>
          <a:prstGeom prst="rect">
            <a:avLst/>
          </a:prstGeom>
        </p:spPr>
      </p:pic>
      <p:pic>
        <p:nvPicPr>
          <p:cNvPr id="82" name="Graphic 82" descr="checkmark on accent r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300" y="7848600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5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18600" y="3365500"/>
            <a:ext cx="6197599" cy="5499100"/>
            <a:chOff x="0" y="0"/>
            <a:chExt cx="5875871" cy="7281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75909" cy="7281291"/>
            </a:xfrm>
            <a:custGeom>
              <a:avLst/>
              <a:gdLst/>
              <a:ahLst/>
              <a:cxnLst/>
              <a:rect l="l" t="t" r="r" b="b"/>
              <a:pathLst>
                <a:path w="5875909" h="7281291">
                  <a:moveTo>
                    <a:pt x="0" y="0"/>
                  </a:moveTo>
                  <a:lnTo>
                    <a:pt x="5875909" y="0"/>
                  </a:lnTo>
                  <a:lnTo>
                    <a:pt x="5875909" y="7281291"/>
                  </a:lnTo>
                  <a:lnTo>
                    <a:pt x="0" y="728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6" name="Freeform 6"/>
          <p:cNvSpPr/>
          <p:nvPr/>
        </p:nvSpPr>
        <p:spPr>
          <a:xfrm>
            <a:off x="998534" y="3360734"/>
            <a:ext cx="6994522" cy="5597528"/>
          </a:xfrm>
          <a:custGeom>
            <a:avLst/>
            <a:gdLst/>
            <a:ahLst/>
            <a:cxnLst/>
            <a:rect l="l" t="t" r="r" b="b"/>
            <a:pathLst>
              <a:path w="6994522" h="5597528">
                <a:moveTo>
                  <a:pt x="0" y="0"/>
                </a:moveTo>
                <a:lnTo>
                  <a:pt x="6994522" y="0"/>
                </a:lnTo>
                <a:lnTo>
                  <a:pt x="6994522" y="5597528"/>
                </a:lnTo>
                <a:lnTo>
                  <a:pt x="0" y="55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sp>
        <p:nvSpPr>
          <p:cNvPr id="7" name="TextBox 7"/>
          <p:cNvSpPr txBox="1"/>
          <p:nvPr/>
        </p:nvSpPr>
        <p:spPr>
          <a:xfrm>
            <a:off x="1066800" y="508000"/>
            <a:ext cx="8890000" cy="166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spc="22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rPr>
              <a:t>ACTIVE PORTFOLIO · PROPERTY 5 OF 5</a:t>
            </a:r>
          </a:p>
          <a:p>
            <a:pPr algn="l">
              <a:lnSpc>
                <a:spcPts val="8200"/>
              </a:lnSpc>
            </a:pPr>
            <a:r>
              <a:rPr lang="en-US" sz="6600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Casa Montana</a:t>
            </a:r>
          </a:p>
          <a:p>
            <a:pPr algn="l">
              <a:lnSpc>
                <a:spcPts val="300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Retiro, Antioquia · House · 591 m² (6,361 sq ft)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2540000"/>
            <a:ext cx="221161" cy="66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6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◆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803" y="3584419"/>
            <a:ext cx="1776965" cy="24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CRITERIA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676" y="2565400"/>
            <a:ext cx="4146785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3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NEGOTIATED</a:t>
            </a:r>
            <a:r>
              <a:rPr lang="en-US" sz="1404" spc="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3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1404" spc="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3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  <a:r>
              <a:rPr lang="en-US" sz="1404" spc="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3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BEING</a:t>
            </a:r>
            <a:r>
              <a:rPr lang="en-US" sz="1404" spc="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spc="153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BUDGETED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0" y="3584419"/>
            <a:ext cx="1255462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51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IN THE FUND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5700" y="43468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405700" y="52612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05700" y="61756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405700" y="70900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405700" y="8004400"/>
            <a:ext cx="136227" cy="2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803400" y="69215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Bridge rental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 ~30 months while marketed · $24K NOI/yr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400" y="60071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Nine-month renovation; $550K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400" y="50927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Entry price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Purchase $1.14M · all-in $1.71M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400" y="4178300"/>
            <a:ext cx="5588000" cy="53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Submarket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Retiro estate, Parcelación Montana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7835900"/>
            <a:ext cx="5588000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Exit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2Q27 → 2Q30 · 35-month hold · $3.00M, 1.75× uplift</a:t>
            </a:r>
          </a:p>
        </p:txBody>
      </p:sp>
      <p:sp>
        <p:nvSpPr>
          <p:cNvPr id="72" name="Seal Disc 72"/>
          <p:cNvSpPr/>
          <p:nvPr/>
        </p:nvSpPr>
        <p:spPr>
          <a:xfrm>
            <a:off x="15798800" y="381000"/>
            <a:ext cx="1524000" cy="1524000"/>
          </a:xfrm>
          <a:prstGeom prst="ellipse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eal Ring 73"/>
          <p:cNvSpPr/>
          <p:nvPr/>
        </p:nvSpPr>
        <p:spPr>
          <a:xfrm>
            <a:off x="15900400" y="482600"/>
            <a:ext cx="1320800" cy="1320800"/>
          </a:xfrm>
          <a:prstGeom prst="ellipse">
            <a:avLst/>
          </a:prstGeom>
          <a:noFill/>
          <a:ln w="9525">
            <a:solidFill>
              <a:srgbClr val="B9684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000"/>
              </a:lnSpc>
            </a:pPr>
            <a:endParaRPr/>
          </a:p>
          <a:p>
            <a:pPr algn="ctr">
              <a:lnSpc>
                <a:spcPts val="1450"/>
              </a:lnSpc>
            </a:pPr>
            <a:r>
              <a:rPr lang="en-US" sz="1200" spc="15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CRITERIA</a:t>
            </a:r>
          </a:p>
          <a:p>
            <a:pPr algn="ctr">
              <a:lnSpc>
                <a:spcPts val="2300"/>
              </a:lnSpc>
            </a:pPr>
            <a:r>
              <a:rPr lang="en-US" sz="20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Cormorant Garamond Bold"/>
              </a:rPr>
              <a:t>CLEARED</a:t>
            </a:r>
          </a:p>
        </p:txBody>
      </p:sp>
      <p:pic>
        <p:nvPicPr>
          <p:cNvPr id="74" name="Graphic 74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4368800"/>
            <a:ext cx="177800" cy="177800"/>
          </a:xfrm>
          <a:prstGeom prst="rect">
            <a:avLst/>
          </a:prstGeom>
        </p:spPr>
      </p:pic>
      <p:pic>
        <p:nvPicPr>
          <p:cNvPr id="75" name="Graphic 75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5283200"/>
            <a:ext cx="177800" cy="177800"/>
          </a:xfrm>
          <a:prstGeom prst="rect">
            <a:avLst/>
          </a:prstGeom>
        </p:spPr>
      </p:pic>
      <p:pic>
        <p:nvPicPr>
          <p:cNvPr id="76" name="Graphic 76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6197600"/>
            <a:ext cx="177800" cy="177800"/>
          </a:xfrm>
          <a:prstGeom prst="rect">
            <a:avLst/>
          </a:prstGeom>
        </p:spPr>
      </p:pic>
      <p:pic>
        <p:nvPicPr>
          <p:cNvPr id="77" name="Graphic 77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7112000"/>
            <a:ext cx="177800" cy="177800"/>
          </a:xfrm>
          <a:prstGeom prst="rect">
            <a:avLst/>
          </a:prstGeom>
        </p:spPr>
      </p:pic>
      <p:pic>
        <p:nvPicPr>
          <p:cNvPr id="78" name="Graphic 78" descr="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8026400"/>
            <a:ext cx="177800" cy="177800"/>
          </a:xfrm>
          <a:prstGeom prst="rect">
            <a:avLst/>
          </a:prstGeom>
        </p:spPr>
      </p:pic>
      <p:pic>
        <p:nvPicPr>
          <p:cNvPr id="79" name="Graphic 79" descr="criteria cleared check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3800" y="6350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91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77903" y="3936987"/>
            <a:ext cx="16332184" cy="12716"/>
            <a:chOff x="0" y="0"/>
            <a:chExt cx="16332187" cy="127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7903" y="4432300"/>
            <a:ext cx="16332184" cy="12716"/>
            <a:chOff x="0" y="0"/>
            <a:chExt cx="16332187" cy="127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903" y="4813300"/>
            <a:ext cx="16332184" cy="12697"/>
            <a:chOff x="0" y="0"/>
            <a:chExt cx="16332187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400" y="5956300"/>
            <a:ext cx="16459200" cy="381000"/>
          </a:xfrm>
          <a:custGeom>
            <a:avLst/>
            <a:gdLst/>
            <a:ahLst/>
            <a:cxnLst/>
            <a:rect l="l" t="t" r="r" b="b"/>
            <a:pathLst>
              <a:path w="16459200" h="546097">
                <a:moveTo>
                  <a:pt x="0" y="0"/>
                </a:moveTo>
                <a:lnTo>
                  <a:pt x="16459200" y="0"/>
                </a:lnTo>
                <a:lnTo>
                  <a:pt x="16459200" y="546097"/>
                </a:lnTo>
                <a:lnTo>
                  <a:pt x="0" y="546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O"/>
          </a:p>
        </p:txBody>
      </p:sp>
      <p:grpSp>
        <p:nvGrpSpPr>
          <p:cNvPr id="11" name="Group 11"/>
          <p:cNvGrpSpPr/>
          <p:nvPr/>
        </p:nvGrpSpPr>
        <p:grpSpPr>
          <a:xfrm>
            <a:off x="977903" y="5194300"/>
            <a:ext cx="16332184" cy="12697"/>
            <a:chOff x="0" y="0"/>
            <a:chExt cx="16332187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903" y="5575300"/>
            <a:ext cx="16332184" cy="12697"/>
            <a:chOff x="0" y="0"/>
            <a:chExt cx="16332187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7903" y="6718300"/>
            <a:ext cx="16332184" cy="12697"/>
            <a:chOff x="0" y="0"/>
            <a:chExt cx="16332187" cy="12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903" y="7099300"/>
            <a:ext cx="16332184" cy="12716"/>
            <a:chOff x="0" y="0"/>
            <a:chExt cx="16332187" cy="127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903" y="7480300"/>
            <a:ext cx="16332184" cy="12697"/>
            <a:chOff x="0" y="0"/>
            <a:chExt cx="16332187" cy="12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7903" y="7861300"/>
            <a:ext cx="16332184" cy="12697"/>
            <a:chOff x="0" y="0"/>
            <a:chExt cx="16332187" cy="12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69343" y="8890000"/>
            <a:ext cx="15748000" cy="5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 spc="1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Contribution margin = revenue less cost basis, selling costs and rent-linked fees. Rental income accrues only while a property is held; all five exit by Year 4, so Years 5 onward are nil. Rental income does not cover property operating costs, so no ordinary income tax arises. All figures in USD.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76" y="330260"/>
            <a:ext cx="12572381" cy="2199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Financial Performance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6800" y="2716463"/>
            <a:ext cx="3581314" cy="98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6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$4.88M</a:t>
            </a:r>
            <a:r>
              <a:rPr lang="en-US" sz="3996">
                <a:solidFill>
                  <a:srgbClr val="273238"/>
                </a:solidFill>
                <a:latin typeface="Georgia"/>
                <a:ea typeface="Georgia"/>
                <a:cs typeface="Georgia"/>
                <a:sym typeface="Cormorant Garamond Light"/>
              </a:rPr>
              <a:t> </a:t>
            </a:r>
          </a:p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contribution margin, all four years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5500" y="2716463"/>
            <a:ext cx="1450718" cy="65723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6" b="0">
                <a:solidFill>
                  <a:srgbClr val="B9684F"/>
                </a:solidFill>
                <a:latin typeface="Georgia"/>
                <a:ea typeface="Georgia"/>
                <a:cs typeface="Georgia"/>
                <a:sym typeface="Cormorant Garamond Bold"/>
              </a:rPr>
              <a:t>40.6%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11854" y="3471729"/>
            <a:ext cx="5664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316200" y="2716463"/>
            <a:ext cx="1787349" cy="65723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6" b="0">
                <a:solidFill>
                  <a:srgbClr val="103D40"/>
                </a:solidFill>
                <a:latin typeface="Georgia"/>
                <a:ea typeface="Georgia"/>
                <a:cs typeface="Georgia"/>
                <a:sym typeface="Cormorant Garamond Bold"/>
              </a:rPr>
              <a:t>$3.66M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88976" y="3471729"/>
            <a:ext cx="5664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98664" y="3471729"/>
            <a:ext cx="325504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contribution</a:t>
            </a:r>
            <a:r>
              <a:rPr lang="en-US" sz="15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margin</a:t>
            </a:r>
            <a:r>
              <a:rPr lang="en-US" sz="15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on</a:t>
            </a:r>
            <a:r>
              <a:rPr lang="en-US" sz="15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revenue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042899" y="3471729"/>
            <a:ext cx="2313051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income after taxes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6800" y="4432300"/>
            <a:ext cx="479518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income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Property sales (gross)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Total revenue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Variable costs — cost basis, selling costs, rent fees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Contribution margin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Contribution margin %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Fixed property costs — predial, HOA, insurance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General &amp; administrative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EBITDA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Tax on gains at 15% occasional-gains rate</a:t>
            </a:r>
          </a:p>
          <a:p>
            <a:pPr algn="l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Net income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29093" y="4024503"/>
            <a:ext cx="16710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6">
                <a:solidFill>
                  <a:srgbClr val="8A8A8A"/>
                </a:solidFill>
                <a:latin typeface="Poppins Light"/>
                <a:ea typeface="Poppins Light"/>
                <a:cs typeface="Poppins Light"/>
                <a:sym typeface="Poppins Light"/>
              </a:rPr>
              <a:t>Y1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26200" y="4432300"/>
            <a:ext cx="127000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84,226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84,226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(17,898)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66,328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78.8%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(87,758)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(104,653)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(126,084)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(126,084)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24187" y="4024503"/>
            <a:ext cx="22151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6">
                <a:solidFill>
                  <a:srgbClr val="8A8A8A"/>
                </a:solidFill>
                <a:latin typeface="Poppins Light"/>
                <a:ea typeface="Poppins Light"/>
                <a:cs typeface="Poppins Light"/>
                <a:sym typeface="Poppins Light"/>
              </a:rPr>
              <a:t>Y2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75700" y="4432300"/>
            <a:ext cx="127000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308,212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308,212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(65,495)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242,717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78.8%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(143,443)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(97,305)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1,968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(689)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1,279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71162" y="4024503"/>
            <a:ext cx="22403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6">
                <a:solidFill>
                  <a:srgbClr val="8A8A8A"/>
                </a:solidFill>
                <a:latin typeface="Poppins Light"/>
                <a:ea typeface="Poppins Light"/>
                <a:cs typeface="Poppins Light"/>
                <a:sym typeface="Poppins Light"/>
              </a:rPr>
              <a:t>Y3</a:t>
            </a:r>
          </a:p>
        </p:txBody>
      </p:sp>
      <p:sp>
        <p:nvSpPr>
          <p:cNvPr id="401" name="Y4 header"/>
          <p:cNvSpPr txBox="1"/>
          <p:nvPr/>
        </p:nvSpPr>
        <p:spPr>
          <a:xfrm>
            <a:off x="14389100" y="4024503"/>
            <a:ext cx="355600" cy="2857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6">
                <a:solidFill>
                  <a:srgbClr val="8A8A8A"/>
                </a:solidFill>
                <a:latin typeface="Poppins Light"/>
                <a:ea typeface="Poppins Light"/>
                <a:cs typeface="Poppins Light"/>
                <a:sym typeface="Poppins Light"/>
              </a:rPr>
              <a:t>Y4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25200" y="4432300"/>
            <a:ext cx="127000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210,510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5,546,509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5,757,020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(3,462,499)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2,294,520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39.9%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(98,752)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(77,724)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2,118,045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(280,708)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1,837,337</a:t>
            </a:r>
          </a:p>
        </p:txBody>
      </p:sp>
      <p:sp>
        <p:nvSpPr>
          <p:cNvPr id="400" name="Y4 values"/>
          <p:cNvSpPr txBox="1"/>
          <p:nvPr/>
        </p:nvSpPr>
        <p:spPr>
          <a:xfrm>
            <a:off x="13474700" y="4432300"/>
            <a:ext cx="127000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40,479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5,830,402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5,870,881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(3,595,125)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2,275,756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38.8%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(16,458)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(26,277)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2,233,022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(287,900)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1,945,121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607723" y="4024503"/>
            <a:ext cx="47042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A8A8A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824200" y="4432300"/>
            <a:ext cx="127000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643,427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11,376,911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12,020,339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(7,141,017)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4,879,321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B9684F"/>
                </a:solidFill>
                <a:latin typeface="Poppins"/>
                <a:ea typeface="Poppins"/>
                <a:cs typeface="Poppins"/>
                <a:sym typeface="Poppins"/>
              </a:rPr>
              <a:t>40.6%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(346,411)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(305,959)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4,226,951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(569,297)</a:t>
            </a:r>
          </a:p>
          <a:p>
            <a:pPr algn="r">
              <a:lnSpc>
                <a:spcPts val="3000"/>
              </a:lnSpc>
            </a:pPr>
            <a:r>
              <a:rPr lang="en-US" sz="1500" spc="3" dirty="0">
                <a:solidFill>
                  <a:srgbClr val="103D40"/>
                </a:solidFill>
                <a:latin typeface="Poppins"/>
                <a:ea typeface="Poppins"/>
                <a:cs typeface="Poppins"/>
                <a:sym typeface="Poppins"/>
              </a:rPr>
              <a:t>3,657,653</a:t>
            </a:r>
          </a:p>
        </p:txBody>
      </p:sp>
      <p:grpSp>
        <p:nvGrpSpPr>
          <p:cNvPr id="220" name="Rule 649"/>
          <p:cNvGrpSpPr/>
          <p:nvPr/>
        </p:nvGrpSpPr>
        <p:grpSpPr>
          <a:xfrm>
            <a:off x="977903" y="8242300"/>
            <a:ext cx="16332184" cy="12697"/>
            <a:chOff x="0" y="0"/>
            <a:chExt cx="16332187" cy="12700"/>
          </a:xfrm>
        </p:grpSpPr>
        <p:sp>
          <p:nvSpPr>
            <p:cNvPr id="221" name="Rule 649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  <p:grpSp>
        <p:nvGrpSpPr>
          <p:cNvPr id="222" name="Rule 679"/>
          <p:cNvGrpSpPr/>
          <p:nvPr/>
        </p:nvGrpSpPr>
        <p:grpSpPr>
          <a:xfrm>
            <a:off x="977903" y="8623300"/>
            <a:ext cx="16332184" cy="12697"/>
            <a:chOff x="0" y="0"/>
            <a:chExt cx="16332187" cy="12700"/>
          </a:xfrm>
        </p:grpSpPr>
        <p:sp>
          <p:nvSpPr>
            <p:cNvPr id="223" name="Rule 679"/>
            <p:cNvSpPr/>
            <p:nvPr/>
          </p:nvSpPr>
          <p:spPr>
            <a:xfrm>
              <a:off x="0" y="0"/>
              <a:ext cx="16332200" cy="12700"/>
            </a:xfrm>
            <a:custGeom>
              <a:avLst/>
              <a:gdLst/>
              <a:ahLst/>
              <a:cxnLst/>
              <a:rect l="l" t="t" r="r" b="b"/>
              <a:pathLst>
                <a:path w="16332200" h="12700">
                  <a:moveTo>
                    <a:pt x="0" y="12700"/>
                  </a:moveTo>
                  <a:lnTo>
                    <a:pt x="16332200" y="12700"/>
                  </a:lnTo>
                  <a:lnTo>
                    <a:pt x="1633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8E3"/>
            </a:solidFill>
          </p:spPr>
          <p:txBody>
            <a:bodyPr/>
            <a:lstStyle/>
            <a:p>
              <a:endParaRPr lang="en-CO"/>
            </a:p>
          </p:txBody>
        </p:sp>
      </p:grpSp>
    </p:spTree>
    <p:extLst>
      <p:ext uri="{BB962C8B-B14F-4D97-AF65-F5344CB8AC3E}">
        <p14:creationId xmlns:p14="http://schemas.microsoft.com/office/powerpoint/2010/main" val="3019776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8023" cy="10287000"/>
            <a:chOff x="0" y="0"/>
            <a:chExt cx="56802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071" cy="10287000"/>
            </a:xfrm>
            <a:custGeom>
              <a:avLst/>
              <a:gdLst/>
              <a:ahLst/>
              <a:cxnLst/>
              <a:rect l="l" t="t" r="r" b="b"/>
              <a:pathLst>
                <a:path w="568071" h="10287000">
                  <a:moveTo>
                    <a:pt x="0" y="10287000"/>
                  </a:moveTo>
                  <a:lnTo>
                    <a:pt x="568071" y="10287000"/>
                  </a:lnTo>
                  <a:lnTo>
                    <a:pt x="5680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D40"/>
            </a:solid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500" name="BS 501"/>
          <p:cNvSpPr/>
          <p:nvPr/>
        </p:nvSpPr>
        <p:spPr>
          <a:xfrm>
            <a:off x="914400" y="3111500"/>
            <a:ext cx="4019550" cy="496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BS 502"/>
          <p:cNvSpPr txBox="1"/>
          <p:nvPr/>
        </p:nvSpPr>
        <p:spPr>
          <a:xfrm>
            <a:off x="1193800" y="34163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96" spc="252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YEAR 1</a:t>
            </a:r>
          </a:p>
        </p:txBody>
      </p:sp>
      <p:sp>
        <p:nvSpPr>
          <p:cNvPr id="502" name="BS 503"/>
          <p:cNvSpPr txBox="1"/>
          <p:nvPr/>
        </p:nvSpPr>
        <p:spPr>
          <a:xfrm>
            <a:off x="1193800" y="36449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996" dirty="0">
                <a:solidFill>
                  <a:srgbClr val="103D40"/>
                </a:solidFill>
                <a:latin typeface="Georgia"/>
                <a:ea typeface="Georgia"/>
                <a:cs typeface="Georgia"/>
              </a:rPr>
              <a:t>$6.50M</a:t>
            </a:r>
          </a:p>
        </p:txBody>
      </p:sp>
      <p:sp>
        <p:nvSpPr>
          <p:cNvPr id="503" name="BS 504"/>
          <p:cNvSpPr txBox="1"/>
          <p:nvPr/>
        </p:nvSpPr>
        <p:spPr>
          <a:xfrm>
            <a:off x="1193800" y="43688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dirty="0">
                <a:solidFill>
                  <a:srgbClr val="7A7F99"/>
                </a:solidFill>
                <a:latin typeface="Poppins"/>
                <a:ea typeface="Poppins"/>
                <a:cs typeface="Poppins"/>
              </a:rPr>
              <a:t>total assets = total equity</a:t>
            </a:r>
          </a:p>
        </p:txBody>
      </p:sp>
      <p:sp>
        <p:nvSpPr>
          <p:cNvPr id="504" name="BS 505"/>
          <p:cNvSpPr/>
          <p:nvPr/>
        </p:nvSpPr>
        <p:spPr>
          <a:xfrm>
            <a:off x="1346200" y="4953603"/>
            <a:ext cx="1270000" cy="2005997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5" name="BS 506"/>
          <p:cNvSpPr/>
          <p:nvPr/>
        </p:nvSpPr>
        <p:spPr>
          <a:xfrm>
            <a:off x="1346200" y="6921500"/>
            <a:ext cx="1270000" cy="381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BS 507"/>
          <p:cNvSpPr/>
          <p:nvPr/>
        </p:nvSpPr>
        <p:spPr>
          <a:xfrm>
            <a:off x="3225800" y="4953603"/>
            <a:ext cx="1270000" cy="2005997"/>
          </a:xfrm>
          <a:prstGeom prst="rect">
            <a:avLst/>
          </a:prstGeom>
          <a:solidFill>
            <a:srgbClr val="CFE8E3"/>
          </a:solidFill>
          <a:ln w="12700">
            <a:solidFill>
              <a:srgbClr val="103D40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Equity</a:t>
            </a:r>
          </a:p>
        </p:txBody>
      </p:sp>
      <p:sp>
        <p:nvSpPr>
          <p:cNvPr id="507" name="BS 508"/>
          <p:cNvSpPr/>
          <p:nvPr/>
        </p:nvSpPr>
        <p:spPr>
          <a:xfrm>
            <a:off x="2616200" y="4948523"/>
            <a:ext cx="609600" cy="1016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8" name="BS 509"/>
          <p:cNvSpPr txBox="1"/>
          <p:nvPr/>
        </p:nvSpPr>
        <p:spPr>
          <a:xfrm>
            <a:off x="1028700" y="7061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00" spc="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ASSETS</a:t>
            </a:r>
          </a:p>
        </p:txBody>
      </p:sp>
      <p:sp>
        <p:nvSpPr>
          <p:cNvPr id="509" name="BS 510"/>
          <p:cNvSpPr txBox="1"/>
          <p:nvPr/>
        </p:nvSpPr>
        <p:spPr>
          <a:xfrm>
            <a:off x="1028700" y="72644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273238"/>
                </a:solidFill>
                <a:latin typeface="Poppins"/>
                <a:ea typeface="Poppins"/>
                <a:cs typeface="Poppins"/>
              </a:rPr>
              <a:t>$6,480,272 real estate</a:t>
            </a:r>
          </a:p>
        </p:txBody>
      </p:sp>
      <p:sp>
        <p:nvSpPr>
          <p:cNvPr id="510" name="BS 511"/>
          <p:cNvSpPr txBox="1"/>
          <p:nvPr/>
        </p:nvSpPr>
        <p:spPr>
          <a:xfrm>
            <a:off x="1028700" y="74676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$24,326 cash</a:t>
            </a:r>
          </a:p>
        </p:txBody>
      </p:sp>
      <p:sp>
        <p:nvSpPr>
          <p:cNvPr id="511" name="BS 512"/>
          <p:cNvSpPr/>
          <p:nvPr/>
        </p:nvSpPr>
        <p:spPr>
          <a:xfrm>
            <a:off x="3035300" y="7137400"/>
            <a:ext cx="1651000" cy="2794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50" spc="8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EQUITY</a:t>
            </a:r>
            <a:r>
              <a:rPr lang="en-US" sz="1050" spc="8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 · DEBT $0</a:t>
            </a:r>
          </a:p>
        </p:txBody>
      </p:sp>
      <p:sp>
        <p:nvSpPr>
          <p:cNvPr id="512" name="BS 513"/>
          <p:cNvSpPr/>
          <p:nvPr/>
        </p:nvSpPr>
        <p:spPr>
          <a:xfrm>
            <a:off x="5060950" y="3111500"/>
            <a:ext cx="4019550" cy="496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3" name="BS 514"/>
          <p:cNvSpPr txBox="1"/>
          <p:nvPr/>
        </p:nvSpPr>
        <p:spPr>
          <a:xfrm>
            <a:off x="5340350" y="34163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96" spc="252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YEAR 2</a:t>
            </a:r>
          </a:p>
        </p:txBody>
      </p:sp>
      <p:sp>
        <p:nvSpPr>
          <p:cNvPr id="514" name="BS 515"/>
          <p:cNvSpPr txBox="1"/>
          <p:nvPr/>
        </p:nvSpPr>
        <p:spPr>
          <a:xfrm>
            <a:off x="5340350" y="36449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996" dirty="0">
                <a:solidFill>
                  <a:srgbClr val="103D40"/>
                </a:solidFill>
                <a:latin typeface="Georgia"/>
                <a:ea typeface="Georgia"/>
                <a:cs typeface="Georgia"/>
              </a:rPr>
              <a:t>$6.59M</a:t>
            </a:r>
          </a:p>
        </p:txBody>
      </p:sp>
      <p:sp>
        <p:nvSpPr>
          <p:cNvPr id="515" name="BS 516"/>
          <p:cNvSpPr txBox="1"/>
          <p:nvPr/>
        </p:nvSpPr>
        <p:spPr>
          <a:xfrm>
            <a:off x="5340350" y="43688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dirty="0">
                <a:solidFill>
                  <a:srgbClr val="7A7F99"/>
                </a:solidFill>
                <a:latin typeface="Poppins"/>
                <a:ea typeface="Poppins"/>
                <a:cs typeface="Poppins"/>
              </a:rPr>
              <a:t>total assets = total equity</a:t>
            </a:r>
          </a:p>
        </p:txBody>
      </p:sp>
      <p:sp>
        <p:nvSpPr>
          <p:cNvPr id="516" name="BS 517"/>
          <p:cNvSpPr/>
          <p:nvPr/>
        </p:nvSpPr>
        <p:spPr>
          <a:xfrm>
            <a:off x="5492750" y="4927600"/>
            <a:ext cx="1270000" cy="2032000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7" name="BS 518"/>
          <p:cNvSpPr/>
          <p:nvPr/>
        </p:nvSpPr>
        <p:spPr>
          <a:xfrm>
            <a:off x="5492750" y="6921500"/>
            <a:ext cx="1270000" cy="381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8" name="BS 519"/>
          <p:cNvSpPr/>
          <p:nvPr/>
        </p:nvSpPr>
        <p:spPr>
          <a:xfrm>
            <a:off x="7372350" y="4927600"/>
            <a:ext cx="1270000" cy="2032000"/>
          </a:xfrm>
          <a:prstGeom prst="rect">
            <a:avLst/>
          </a:prstGeom>
          <a:solidFill>
            <a:srgbClr val="CFE8E3"/>
          </a:solidFill>
          <a:ln w="12700">
            <a:solidFill>
              <a:srgbClr val="103D40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Equity</a:t>
            </a:r>
          </a:p>
        </p:txBody>
      </p:sp>
      <p:sp>
        <p:nvSpPr>
          <p:cNvPr id="519" name="BS 520"/>
          <p:cNvSpPr/>
          <p:nvPr/>
        </p:nvSpPr>
        <p:spPr>
          <a:xfrm>
            <a:off x="6762750" y="4922520"/>
            <a:ext cx="609600" cy="1016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0" name="BS 521"/>
          <p:cNvSpPr txBox="1"/>
          <p:nvPr/>
        </p:nvSpPr>
        <p:spPr>
          <a:xfrm>
            <a:off x="5175250" y="7061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00" spc="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ASSETS</a:t>
            </a:r>
          </a:p>
        </p:txBody>
      </p:sp>
      <p:sp>
        <p:nvSpPr>
          <p:cNvPr id="521" name="BS 522"/>
          <p:cNvSpPr txBox="1"/>
          <p:nvPr/>
        </p:nvSpPr>
        <p:spPr>
          <a:xfrm>
            <a:off x="5175250" y="72644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273238"/>
                </a:solidFill>
                <a:latin typeface="Poppins"/>
                <a:ea typeface="Poppins"/>
                <a:cs typeface="Poppins"/>
              </a:rPr>
              <a:t>$6,571,966 real estate</a:t>
            </a:r>
          </a:p>
        </p:txBody>
      </p:sp>
      <p:sp>
        <p:nvSpPr>
          <p:cNvPr id="522" name="BS 523"/>
          <p:cNvSpPr txBox="1"/>
          <p:nvPr/>
        </p:nvSpPr>
        <p:spPr>
          <a:xfrm>
            <a:off x="5175250" y="74676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$19,431 cash</a:t>
            </a:r>
          </a:p>
        </p:txBody>
      </p:sp>
      <p:sp>
        <p:nvSpPr>
          <p:cNvPr id="523" name="BS 524"/>
          <p:cNvSpPr/>
          <p:nvPr/>
        </p:nvSpPr>
        <p:spPr>
          <a:xfrm>
            <a:off x="7181850" y="7137400"/>
            <a:ext cx="1651000" cy="2794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50" spc="8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EQUITY</a:t>
            </a:r>
            <a:r>
              <a:rPr lang="en-US" sz="1050" spc="8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 · DEBT $0</a:t>
            </a:r>
          </a:p>
        </p:txBody>
      </p:sp>
      <p:sp>
        <p:nvSpPr>
          <p:cNvPr id="524" name="BS 525"/>
          <p:cNvSpPr/>
          <p:nvPr/>
        </p:nvSpPr>
        <p:spPr>
          <a:xfrm>
            <a:off x="9207500" y="3111500"/>
            <a:ext cx="4019550" cy="496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5" name="BS 526"/>
          <p:cNvSpPr txBox="1"/>
          <p:nvPr/>
        </p:nvSpPr>
        <p:spPr>
          <a:xfrm>
            <a:off x="9486900" y="34163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96" spc="252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YEAR 3</a:t>
            </a:r>
          </a:p>
        </p:txBody>
      </p:sp>
      <p:sp>
        <p:nvSpPr>
          <p:cNvPr id="526" name="BS 527"/>
          <p:cNvSpPr txBox="1"/>
          <p:nvPr/>
        </p:nvSpPr>
        <p:spPr>
          <a:xfrm>
            <a:off x="9486900" y="36449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996" dirty="0">
                <a:solidFill>
                  <a:srgbClr val="103D40"/>
                </a:solidFill>
                <a:latin typeface="Georgia"/>
                <a:ea typeface="Georgia"/>
                <a:cs typeface="Georgia"/>
              </a:rPr>
              <a:t>$3.37M</a:t>
            </a:r>
          </a:p>
        </p:txBody>
      </p:sp>
      <p:sp>
        <p:nvSpPr>
          <p:cNvPr id="527" name="BS 528"/>
          <p:cNvSpPr txBox="1"/>
          <p:nvPr/>
        </p:nvSpPr>
        <p:spPr>
          <a:xfrm>
            <a:off x="9486900" y="43688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dirty="0">
                <a:solidFill>
                  <a:srgbClr val="7A7F99"/>
                </a:solidFill>
                <a:latin typeface="Poppins"/>
                <a:ea typeface="Poppins"/>
                <a:cs typeface="Poppins"/>
              </a:rPr>
              <a:t>total assets = total equity</a:t>
            </a:r>
          </a:p>
        </p:txBody>
      </p:sp>
      <p:sp>
        <p:nvSpPr>
          <p:cNvPr id="528" name="BS 529"/>
          <p:cNvSpPr/>
          <p:nvPr/>
        </p:nvSpPr>
        <p:spPr>
          <a:xfrm>
            <a:off x="9639300" y="5920815"/>
            <a:ext cx="1270000" cy="1038785"/>
          </a:xfrm>
          <a:prstGeom prst="rect">
            <a:avLst/>
          </a:prstGeom>
          <a:solidFill>
            <a:srgbClr val="103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9" name="BS 530"/>
          <p:cNvSpPr/>
          <p:nvPr/>
        </p:nvSpPr>
        <p:spPr>
          <a:xfrm>
            <a:off x="9639300" y="6921500"/>
            <a:ext cx="1270000" cy="3810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0" name="BS 531"/>
          <p:cNvSpPr/>
          <p:nvPr/>
        </p:nvSpPr>
        <p:spPr>
          <a:xfrm>
            <a:off x="11518900" y="5920815"/>
            <a:ext cx="1270000" cy="1038785"/>
          </a:xfrm>
          <a:prstGeom prst="rect">
            <a:avLst/>
          </a:prstGeom>
          <a:solidFill>
            <a:srgbClr val="CFE8E3"/>
          </a:solidFill>
          <a:ln w="12700">
            <a:solidFill>
              <a:srgbClr val="103D40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Equity</a:t>
            </a:r>
          </a:p>
        </p:txBody>
      </p:sp>
      <p:sp>
        <p:nvSpPr>
          <p:cNvPr id="531" name="BS 532"/>
          <p:cNvSpPr/>
          <p:nvPr/>
        </p:nvSpPr>
        <p:spPr>
          <a:xfrm>
            <a:off x="10909300" y="5915735"/>
            <a:ext cx="609600" cy="10160"/>
          </a:xfrm>
          <a:prstGeom prst="rect">
            <a:avLst/>
          </a:prstGeom>
          <a:solidFill>
            <a:srgbClr val="B96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2" name="BS 533"/>
          <p:cNvSpPr txBox="1"/>
          <p:nvPr/>
        </p:nvSpPr>
        <p:spPr>
          <a:xfrm>
            <a:off x="9321800" y="7061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00" spc="200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ASSETS</a:t>
            </a:r>
          </a:p>
        </p:txBody>
      </p:sp>
      <p:sp>
        <p:nvSpPr>
          <p:cNvPr id="533" name="BS 534"/>
          <p:cNvSpPr txBox="1"/>
          <p:nvPr/>
        </p:nvSpPr>
        <p:spPr>
          <a:xfrm>
            <a:off x="9321800" y="72644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273238"/>
                </a:solidFill>
                <a:latin typeface="Poppins"/>
                <a:ea typeface="Poppins"/>
                <a:cs typeface="Poppins"/>
              </a:rPr>
              <a:t>$3,364,968 real estate</a:t>
            </a:r>
          </a:p>
        </p:txBody>
      </p:sp>
      <p:sp>
        <p:nvSpPr>
          <p:cNvPr id="534" name="BS 535"/>
          <p:cNvSpPr txBox="1"/>
          <p:nvPr/>
        </p:nvSpPr>
        <p:spPr>
          <a:xfrm>
            <a:off x="9321800" y="74676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$6,569 cash</a:t>
            </a:r>
          </a:p>
        </p:txBody>
      </p:sp>
      <p:sp>
        <p:nvSpPr>
          <p:cNvPr id="535" name="BS 536"/>
          <p:cNvSpPr/>
          <p:nvPr/>
        </p:nvSpPr>
        <p:spPr>
          <a:xfrm>
            <a:off x="11328400" y="7137400"/>
            <a:ext cx="1651000" cy="279400"/>
          </a:xfrm>
          <a:prstGeom prst="roundRect">
            <a:avLst/>
          </a:prstGeom>
          <a:solidFill>
            <a:srgbClr val="103D4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50" spc="8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EQUITY</a:t>
            </a:r>
            <a:r>
              <a:rPr lang="en-US" sz="1050" spc="8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 · DEBT $0</a:t>
            </a:r>
          </a:p>
        </p:txBody>
      </p:sp>
      <p:sp>
        <p:nvSpPr>
          <p:cNvPr id="536" name="BS 537"/>
          <p:cNvSpPr/>
          <p:nvPr/>
        </p:nvSpPr>
        <p:spPr>
          <a:xfrm>
            <a:off x="13354050" y="3111500"/>
            <a:ext cx="4019550" cy="496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7" name="BS 538"/>
          <p:cNvSpPr txBox="1"/>
          <p:nvPr/>
        </p:nvSpPr>
        <p:spPr>
          <a:xfrm>
            <a:off x="13633450" y="34163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96" spc="252" dirty="0">
                <a:solidFill>
                  <a:srgbClr val="103D40"/>
                </a:solidFill>
                <a:latin typeface="Poppins"/>
                <a:ea typeface="Poppins"/>
                <a:cs typeface="Poppins"/>
              </a:rPr>
              <a:t>YEAR 4</a:t>
            </a:r>
          </a:p>
        </p:txBody>
      </p:sp>
      <p:sp>
        <p:nvSpPr>
          <p:cNvPr id="538" name="BS 539"/>
          <p:cNvSpPr txBox="1"/>
          <p:nvPr/>
        </p:nvSpPr>
        <p:spPr>
          <a:xfrm>
            <a:off x="13633450" y="36449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996" dirty="0">
                <a:solidFill>
                  <a:srgbClr val="B9684F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539" name="BS 540"/>
          <p:cNvSpPr txBox="1"/>
          <p:nvPr/>
        </p:nvSpPr>
        <p:spPr>
          <a:xfrm>
            <a:off x="13633450" y="43688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dirty="0">
                <a:solidFill>
                  <a:srgbClr val="7A7F99"/>
                </a:solidFill>
                <a:latin typeface="Poppins"/>
                <a:ea typeface="Poppins"/>
                <a:cs typeface="Poppins"/>
              </a:rPr>
              <a:t>fully liquidated — all capital and profit distributed</a:t>
            </a:r>
          </a:p>
        </p:txBody>
      </p:sp>
      <p:sp>
        <p:nvSpPr>
          <p:cNvPr id="540" name="BS 541"/>
          <p:cNvSpPr/>
          <p:nvPr/>
        </p:nvSpPr>
        <p:spPr>
          <a:xfrm>
            <a:off x="14728825" y="5105400"/>
            <a:ext cx="1270000" cy="1270000"/>
          </a:xfrm>
          <a:prstGeom prst="ellipse">
            <a:avLst/>
          </a:prstGeom>
          <a:noFill/>
          <a:ln w="19050">
            <a:solidFill>
              <a:srgbClr val="B9684F"/>
            </a:solidFill>
            <a:prstDash val="dash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4400" dirty="0">
                <a:solidFill>
                  <a:srgbClr val="B9684F"/>
                </a:solidFill>
                <a:latin typeface="Poppins"/>
                <a:ea typeface="Poppins"/>
                <a:cs typeface="Poppins"/>
              </a:rPr>
              <a:t>✓</a:t>
            </a:r>
          </a:p>
        </p:txBody>
      </p:sp>
      <p:sp>
        <p:nvSpPr>
          <p:cNvPr id="541" name="BS 542"/>
          <p:cNvSpPr txBox="1"/>
          <p:nvPr/>
        </p:nvSpPr>
        <p:spPr>
          <a:xfrm>
            <a:off x="13608050" y="6604000"/>
            <a:ext cx="3511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200" dirty="0">
                <a:solidFill>
                  <a:srgbClr val="273238"/>
                </a:solidFill>
                <a:latin typeface="Poppins"/>
                <a:ea typeface="Poppins"/>
                <a:cs typeface="Poppins"/>
              </a:rPr>
              <a:t>Balance check reads zero. Program wound down; nothing left on the books.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343" y="1964807"/>
            <a:ext cx="1363954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Properties are carried at cost until sold. Commitments are drawn only as acquisitions close, never up front.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9343" y="8615194"/>
            <a:ext cx="9595152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Balance check reads zero every period. All capital and profit is distributed by Year 4.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9215" y="73085"/>
            <a:ext cx="8050559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4"/>
              </a:lnSpc>
            </a:pPr>
            <a:r>
              <a:rPr lang="en-US" sz="8796">
                <a:solidFill>
                  <a:srgbClr val="103D40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Balance Sheet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9343" y="1516866"/>
            <a:ext cx="7300008" cy="37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273238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debt, ever. The program fully liquidates by Year 4</a:t>
            </a:r>
          </a:p>
        </p:txBody>
      </p:sp>
    </p:spTree>
    <p:extLst>
      <p:ext uri="{BB962C8B-B14F-4D97-AF65-F5344CB8AC3E}">
        <p14:creationId xmlns:p14="http://schemas.microsoft.com/office/powerpoint/2010/main" val="1236509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343A0409-50EB-FA44-D519-1ECE5AF8047E}"/>
              </a:ext>
            </a:extLst>
          </p:cNvPr>
          <p:cNvGrpSpPr/>
          <p:nvPr/>
        </p:nvGrpSpPr>
        <p:grpSpPr>
          <a:xfrm>
            <a:off x="4876800" y="2857500"/>
            <a:ext cx="9738360" cy="3895344"/>
            <a:chOff x="0" y="0"/>
            <a:chExt cx="12984480" cy="5193792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F5F59642-3105-CB77-1DAD-B290DBFDCBEE}"/>
                </a:ext>
              </a:extLst>
            </p:cNvPr>
            <p:cNvSpPr/>
            <p:nvPr/>
          </p:nvSpPr>
          <p:spPr>
            <a:xfrm>
              <a:off x="0" y="0"/>
              <a:ext cx="12984480" cy="5193792"/>
            </a:xfrm>
            <a:custGeom>
              <a:avLst/>
              <a:gdLst/>
              <a:ahLst/>
              <a:cxnLst/>
              <a:rect l="l" t="t" r="r" b="b"/>
              <a:pathLst>
                <a:path w="12984480" h="5193792">
                  <a:moveTo>
                    <a:pt x="0" y="0"/>
                  </a:moveTo>
                  <a:lnTo>
                    <a:pt x="12984480" y="0"/>
                  </a:lnTo>
                  <a:lnTo>
                    <a:pt x="12984480" y="5193792"/>
                  </a:lnTo>
                  <a:lnTo>
                    <a:pt x="0" y="5193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O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57F7E9A-C897-3E3A-56EC-8FABFDFDFAC8}"/>
              </a:ext>
            </a:extLst>
          </p:cNvPr>
          <p:cNvSpPr/>
          <p:nvPr/>
        </p:nvSpPr>
        <p:spPr>
          <a:xfrm>
            <a:off x="533400" y="9410700"/>
            <a:ext cx="173736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445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 [1790408269421]">
  <a:themeElements>
    <a:clrScheme name="Office">
      <a:dk1>
        <a:sysClr val="windowText" lastClr="000000"/>
      </a:dk1>
      <a:lt1>
        <a:sysClr val="window" lastClr="FFFFFF"/>
      </a:lt1>
      <a:dk2>
        <a:srgbClr val="103D40"/>
      </a:dk2>
      <a:lt2>
        <a:srgbClr val="CFE8E3"/>
      </a:lt2>
      <a:accent1>
        <a:srgbClr val="2D8C88"/>
      </a:accent1>
      <a:accent2>
        <a:srgbClr val="A8503A"/>
      </a:accent2>
      <a:accent3>
        <a:srgbClr val="9BBB59"/>
      </a:accent3>
      <a:accent4>
        <a:srgbClr val="8064A2"/>
      </a:accent4>
      <a:accent5>
        <a:srgbClr val="2D8C88"/>
      </a:accent5>
      <a:accent6>
        <a:srgbClr val="B9684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8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30C7912-BC2D-5542-8C5E-6C15CFB8FA0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2531ff30-219d-406a-a0df-ebed9b50e217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CB729AC-C962-4B56-8780-9EDEAD9BD92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19a743d-d791-4585-9c05-02c7767d6c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2226</Words>
  <Application>Microsoft Office PowerPoint</Application>
  <PresentationFormat>Custom</PresentationFormat>
  <Paragraphs>512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Aptos</vt:lpstr>
      <vt:lpstr>Georgia</vt:lpstr>
      <vt:lpstr>Poppins Light</vt:lpstr>
      <vt:lpstr>Calibri</vt:lpstr>
      <vt:lpstr>Poppins Extra-Light</vt:lpstr>
      <vt:lpstr>Poppins</vt:lpstr>
      <vt:lpstr>Office Theme [1790408269421]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Dulcinea - Investor Presentation 02</dc:title>
  <dc:creator>Ricardo Cidale</dc:creator>
  <cp:lastModifiedBy>Ricardo Cidale</cp:lastModifiedBy>
  <cp:revision>77</cp:revision>
  <dcterms:created xsi:type="dcterms:W3CDTF">2006-08-16T00:00:00Z</dcterms:created>
  <dcterms:modified xsi:type="dcterms:W3CDTF">2026-09-26T08:34:55Z</dcterms:modified>
  <dc:identifier>DAHVMZHiEfw</dc:identifier>
</cp:coreProperties>
</file>